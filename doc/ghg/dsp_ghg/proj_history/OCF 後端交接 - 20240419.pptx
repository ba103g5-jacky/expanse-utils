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4"/>
  </p:sldMasterIdLst>
  <p:notesMasterIdLst>
    <p:notesMasterId r:id="rId48"/>
  </p:notesMasterIdLst>
  <p:sldIdLst>
    <p:sldId id="302" r:id="rId5"/>
    <p:sldId id="283" r:id="rId6"/>
    <p:sldId id="305" r:id="rId7"/>
    <p:sldId id="408" r:id="rId8"/>
    <p:sldId id="409" r:id="rId9"/>
    <p:sldId id="410" r:id="rId10"/>
    <p:sldId id="411" r:id="rId11"/>
    <p:sldId id="412" r:id="rId12"/>
    <p:sldId id="481" r:id="rId13"/>
    <p:sldId id="486" r:id="rId14"/>
    <p:sldId id="482" r:id="rId15"/>
    <p:sldId id="483" r:id="rId16"/>
    <p:sldId id="487" r:id="rId17"/>
    <p:sldId id="484" r:id="rId18"/>
    <p:sldId id="488" r:id="rId19"/>
    <p:sldId id="485" r:id="rId20"/>
    <p:sldId id="489" r:id="rId21"/>
    <p:sldId id="490" r:id="rId22"/>
    <p:sldId id="491" r:id="rId23"/>
    <p:sldId id="492" r:id="rId24"/>
    <p:sldId id="493" r:id="rId25"/>
    <p:sldId id="494" r:id="rId26"/>
    <p:sldId id="495" r:id="rId27"/>
    <p:sldId id="496" r:id="rId28"/>
    <p:sldId id="497" r:id="rId29"/>
    <p:sldId id="498" r:id="rId30"/>
    <p:sldId id="499" r:id="rId31"/>
    <p:sldId id="500" r:id="rId32"/>
    <p:sldId id="501" r:id="rId33"/>
    <p:sldId id="502" r:id="rId34"/>
    <p:sldId id="503" r:id="rId35"/>
    <p:sldId id="504" r:id="rId36"/>
    <p:sldId id="505" r:id="rId37"/>
    <p:sldId id="506" r:id="rId38"/>
    <p:sldId id="507" r:id="rId39"/>
    <p:sldId id="508" r:id="rId40"/>
    <p:sldId id="509" r:id="rId41"/>
    <p:sldId id="510" r:id="rId42"/>
    <p:sldId id="511" r:id="rId43"/>
    <p:sldId id="512" r:id="rId44"/>
    <p:sldId id="513" r:id="rId45"/>
    <p:sldId id="514" r:id="rId46"/>
    <p:sldId id="291" r:id="rId47"/>
  </p:sldIdLst>
  <p:sldSz cx="12192000" cy="6858000"/>
  <p:notesSz cx="6858000" cy="91440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A00"/>
    <a:srgbClr val="B9EB5F"/>
    <a:srgbClr val="64D7D7"/>
    <a:srgbClr val="1E50C8"/>
    <a:srgbClr val="008223"/>
    <a:srgbClr val="E6F005"/>
    <a:srgbClr val="00647D"/>
    <a:srgbClr val="008C8C"/>
    <a:srgbClr val="C88C00"/>
    <a:srgbClr val="FFDC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78" autoAdjust="0"/>
    <p:restoredTop sz="93834" autoAdjust="0"/>
  </p:normalViewPr>
  <p:slideViewPr>
    <p:cSldViewPr snapToGrid="0" showGuides="1">
      <p:cViewPr varScale="1">
        <p:scale>
          <a:sx n="114" d="100"/>
          <a:sy n="114" d="100"/>
        </p:scale>
        <p:origin x="792" y="-288"/>
      </p:cViewPr>
      <p:guideLst>
        <p:guide orient="horz" pos="2183"/>
        <p:guide pos="3817"/>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8F0D9C-0244-48E5-AAB4-F314FC181477}" type="datetimeFigureOut">
              <a:rPr lang="en-US" smtClean="0"/>
              <a:t>4/19/2024</a:t>
            </a:fld>
            <a:endParaRPr 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380C3-7D2B-43B9-A2FF-0551F6D200CF}" type="slidenum">
              <a:rPr lang="en-US" smtClean="0"/>
              <a:t>‹#›</a:t>
            </a:fld>
            <a:endParaRPr lang="en-US"/>
          </a:p>
        </p:txBody>
      </p:sp>
    </p:spTree>
    <p:extLst>
      <p:ext uri="{BB962C8B-B14F-4D97-AF65-F5344CB8AC3E}">
        <p14:creationId xmlns:p14="http://schemas.microsoft.com/office/powerpoint/2010/main" val="3287395566"/>
      </p:ext>
    </p:extLst>
  </p:cSld>
  <p:clrMap bg1="lt1" tx1="dk1" bg2="lt2" tx2="dk2" accent1="accent1" accent2="accent2" accent3="accent3" accent4="accent4" accent5="accent5" accent6="accent6" hlink="hlink" folHlink="folHlink"/>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BFF380C3-7D2B-43B9-A2FF-0551F6D200CF}" type="slidenum">
              <a:rPr lang="en-US" smtClean="0"/>
              <a:t>2</a:t>
            </a:fld>
            <a:endParaRPr lang="en-US"/>
          </a:p>
        </p:txBody>
      </p:sp>
    </p:spTree>
    <p:extLst>
      <p:ext uri="{BB962C8B-B14F-4D97-AF65-F5344CB8AC3E}">
        <p14:creationId xmlns:p14="http://schemas.microsoft.com/office/powerpoint/2010/main" val="21386847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BFF380C3-7D2B-43B9-A2FF-0551F6D200CF}" type="slidenum">
              <a:rPr lang="en-US" smtClean="0"/>
              <a:t>4</a:t>
            </a:fld>
            <a:endParaRPr lang="en-US"/>
          </a:p>
        </p:txBody>
      </p:sp>
    </p:spTree>
    <p:extLst>
      <p:ext uri="{BB962C8B-B14F-4D97-AF65-F5344CB8AC3E}">
        <p14:creationId xmlns:p14="http://schemas.microsoft.com/office/powerpoint/2010/main" val="3853684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BFF380C3-7D2B-43B9-A2FF-0551F6D200CF}" type="slidenum">
              <a:rPr lang="en-US" smtClean="0"/>
              <a:t>5</a:t>
            </a:fld>
            <a:endParaRPr lang="en-US"/>
          </a:p>
        </p:txBody>
      </p:sp>
    </p:spTree>
    <p:extLst>
      <p:ext uri="{BB962C8B-B14F-4D97-AF65-F5344CB8AC3E}">
        <p14:creationId xmlns:p14="http://schemas.microsoft.com/office/powerpoint/2010/main" val="1851124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BFF380C3-7D2B-43B9-A2FF-0551F6D200CF}" type="slidenum">
              <a:rPr lang="en-US" smtClean="0"/>
              <a:t>6</a:t>
            </a:fld>
            <a:endParaRPr lang="en-US"/>
          </a:p>
        </p:txBody>
      </p:sp>
    </p:spTree>
    <p:extLst>
      <p:ext uri="{BB962C8B-B14F-4D97-AF65-F5344CB8AC3E}">
        <p14:creationId xmlns:p14="http://schemas.microsoft.com/office/powerpoint/2010/main" val="229008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BFF380C3-7D2B-43B9-A2FF-0551F6D200CF}" type="slidenum">
              <a:rPr lang="en-US" smtClean="0"/>
              <a:t>7</a:t>
            </a:fld>
            <a:endParaRPr lang="en-US"/>
          </a:p>
        </p:txBody>
      </p:sp>
    </p:spTree>
    <p:extLst>
      <p:ext uri="{BB962C8B-B14F-4D97-AF65-F5344CB8AC3E}">
        <p14:creationId xmlns:p14="http://schemas.microsoft.com/office/powerpoint/2010/main" val="350249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18615"/>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3" name="副標題 2">
            <a:extLst>
              <a:ext uri="{FF2B5EF4-FFF2-40B4-BE49-F238E27FC236}">
                <a16:creationId xmlns:a16="http://schemas.microsoft.com/office/drawing/2014/main" id="{6C9BD8EC-F37F-4F94-8712-797CC1161E95}"/>
              </a:ext>
            </a:extLst>
          </p:cNvPr>
          <p:cNvSpPr>
            <a:spLocks noGrp="1"/>
          </p:cNvSpPr>
          <p:nvPr>
            <p:ph type="subTitle" idx="1" hasCustomPrompt="1"/>
          </p:nvPr>
        </p:nvSpPr>
        <p:spPr>
          <a:xfrm>
            <a:off x="896647" y="3015629"/>
            <a:ext cx="9144000" cy="1370104"/>
          </a:xfrm>
        </p:spPr>
        <p:txBody>
          <a:bodyPr>
            <a:normAutofit/>
          </a:bodyPr>
          <a:lstStyle>
            <a:lvl1pPr marL="0" indent="0" algn="l">
              <a:lnSpc>
                <a:spcPct val="110000"/>
              </a:lnSpc>
              <a:spcBef>
                <a:spcPts val="0"/>
              </a:spcBef>
              <a:buNone/>
              <a:defRPr sz="3000">
                <a:solidFill>
                  <a:schemeClr val="tx2"/>
                </a:solidFill>
                <a:latin typeface="+mj-lt"/>
                <a:ea typeface="+mj-ea"/>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ltLang="zh-TW" sz="3000" dirty="0"/>
              <a:t>Presentation Subtitle Goes Here</a:t>
            </a:r>
            <a:br>
              <a:rPr lang="en-US" altLang="zh-TW" sz="3000" dirty="0"/>
            </a:br>
            <a:r>
              <a:rPr lang="en-US" altLang="zh-TW" sz="3000" dirty="0"/>
              <a:t>Maximum 2 Lines (24-32pt)</a:t>
            </a:r>
          </a:p>
        </p:txBody>
      </p:sp>
      <p:sp>
        <p:nvSpPr>
          <p:cNvPr id="11" name="頁尾版面配置區 4">
            <a:extLst>
              <a:ext uri="{FF2B5EF4-FFF2-40B4-BE49-F238E27FC236}">
                <a16:creationId xmlns:a16="http://schemas.microsoft.com/office/drawing/2014/main" id="{38A83012-CC3B-47DF-9FCA-A1115F39D319}"/>
              </a:ext>
            </a:extLst>
          </p:cNvPr>
          <p:cNvSpPr>
            <a:spLocks noGrp="1"/>
          </p:cNvSpPr>
          <p:nvPr>
            <p:ph type="ftr" sz="quarter" idx="3"/>
          </p:nvPr>
        </p:nvSpPr>
        <p:spPr>
          <a:xfrm>
            <a:off x="818612" y="5739683"/>
            <a:ext cx="5707316" cy="218356"/>
          </a:xfrm>
        </p:spPr>
        <p:txBody>
          <a:bodyPr/>
          <a:lstStyle>
            <a:lvl1pPr>
              <a:defRPr>
                <a:latin typeface="Arial" panose="020B0604020202020204" pitchFamily="34" charset="0"/>
                <a:cs typeface="Arial" panose="020B0604020202020204" pitchFamily="34" charset="0"/>
              </a:defRPr>
            </a:lvl1pPr>
          </a:lstStyle>
          <a:p>
            <a:r>
              <a:rPr lang="en-US" altLang="zh-TW" sz="1800" dirty="0"/>
              <a:t>Presenter</a:t>
            </a:r>
            <a:r>
              <a:rPr lang="zh-TW" altLang="en-US" sz="1800" dirty="0"/>
              <a:t> </a:t>
            </a:r>
            <a:r>
              <a:rPr lang="en-US" altLang="zh-TW" sz="1800" dirty="0"/>
              <a:t>Name</a:t>
            </a:r>
            <a:r>
              <a:rPr lang="zh-TW" altLang="en-US" sz="1800" dirty="0"/>
              <a:t>｜</a:t>
            </a:r>
            <a:r>
              <a:rPr lang="en-US" altLang="zh-TW" sz="1800" dirty="0"/>
              <a:t>Department</a:t>
            </a:r>
            <a:r>
              <a:rPr lang="zh-TW" altLang="en-US" sz="1800" dirty="0"/>
              <a:t>｜</a:t>
            </a:r>
            <a:r>
              <a:rPr lang="en-US" altLang="zh-TW" sz="1800" dirty="0"/>
              <a:t>MM/DD/YYYY</a:t>
            </a:r>
          </a:p>
        </p:txBody>
      </p:sp>
      <p:sp>
        <p:nvSpPr>
          <p:cNvPr id="9" name="文字版面配置區 4">
            <a:extLst>
              <a:ext uri="{FF2B5EF4-FFF2-40B4-BE49-F238E27FC236}">
                <a16:creationId xmlns:a16="http://schemas.microsoft.com/office/drawing/2014/main" id="{C5F15596-5511-4524-8143-5414A6D0A46F}"/>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Page_White</a:t>
            </a:r>
            <a:endParaRPr lang="zh-TW" altLang="en-US" dirty="0"/>
          </a:p>
        </p:txBody>
      </p:sp>
    </p:spTree>
    <p:extLst>
      <p:ext uri="{BB962C8B-B14F-4D97-AF65-F5344CB8AC3E}">
        <p14:creationId xmlns:p14="http://schemas.microsoft.com/office/powerpoint/2010/main" val="417432220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Page_Image">
    <p:bg>
      <p:bgPr>
        <a:blipFill dpi="0" rotWithShape="1">
          <a:blip r:embed="rId2">
            <a:alphaModFix amt="97000"/>
            <a:lum/>
          </a:blip>
          <a:srcRect/>
          <a:stretch>
            <a:fillRect/>
          </a:stretch>
        </a:blipFill>
        <a:effectLst/>
      </p:bgPr>
    </p:bg>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532A9990-6214-495A-B5B6-C1801359D16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2621" y="1"/>
            <a:ext cx="12179379" cy="6850900"/>
          </a:xfrm>
          <a:prstGeom prst="rect">
            <a:avLst/>
          </a:prstGeom>
        </p:spPr>
      </p:pic>
      <p:sp>
        <p:nvSpPr>
          <p:cNvPr id="7" name="日期版面配置區 3">
            <a:extLst>
              <a:ext uri="{FF2B5EF4-FFF2-40B4-BE49-F238E27FC236}">
                <a16:creationId xmlns:a16="http://schemas.microsoft.com/office/drawing/2014/main" id="{CE458713-38E5-4D94-9527-7C2BC1D5DE79}"/>
              </a:ext>
            </a:extLst>
          </p:cNvPr>
          <p:cNvSpPr>
            <a:spLocks noGrp="1"/>
          </p:cNvSpPr>
          <p:nvPr>
            <p:ph type="dt" sz="half" idx="10"/>
          </p:nvPr>
        </p:nvSpPr>
        <p:spPr>
          <a:xfrm>
            <a:off x="818912" y="5705762"/>
            <a:ext cx="2010917" cy="319651"/>
          </a:xfrm>
        </p:spPr>
        <p:txBody>
          <a:bodyPr/>
          <a:lstStyle>
            <a:lvl1pPr>
              <a:defRPr sz="1800">
                <a:solidFill>
                  <a:schemeClr val="bg1"/>
                </a:solidFill>
              </a:defRPr>
            </a:lvl1pPr>
          </a:lstStyle>
          <a:p>
            <a:r>
              <a:rPr lang="en-US" dirty="0"/>
              <a:t>MM/DD/YYYY</a:t>
            </a:r>
          </a:p>
        </p:txBody>
      </p:sp>
      <p:sp>
        <p:nvSpPr>
          <p:cNvPr id="9" name="頁尾版面配置區 4">
            <a:extLst>
              <a:ext uri="{FF2B5EF4-FFF2-40B4-BE49-F238E27FC236}">
                <a16:creationId xmlns:a16="http://schemas.microsoft.com/office/drawing/2014/main" id="{135E4C83-C41A-49B9-9C41-417375F79B2F}"/>
              </a:ext>
            </a:extLst>
          </p:cNvPr>
          <p:cNvSpPr>
            <a:spLocks noGrp="1"/>
          </p:cNvSpPr>
          <p:nvPr>
            <p:ph type="ftr" sz="quarter" idx="3"/>
          </p:nvPr>
        </p:nvSpPr>
        <p:spPr>
          <a:xfrm>
            <a:off x="838897" y="5333736"/>
            <a:ext cx="4114800" cy="365125"/>
          </a:xfrm>
          <a:prstGeom prst="rect">
            <a:avLst/>
          </a:prstGeom>
        </p:spPr>
        <p:txBody>
          <a:bodyPr vert="horz" lIns="91440" tIns="45720" rIns="91440" bIns="45720" rtlCol="0" anchor="ctr"/>
          <a:lstStyle>
            <a:lvl1pPr algn="l">
              <a:defRPr sz="1800" u="none">
                <a:solidFill>
                  <a:schemeClr val="bg1"/>
                </a:solidFill>
                <a:latin typeface="Arial" panose="020B0604020202020204" pitchFamily="34" charset="0"/>
                <a:cs typeface="Arial" panose="020B0604020202020204" pitchFamily="34" charset="0"/>
              </a:defRPr>
            </a:lvl1pPr>
          </a:lstStyle>
          <a:p>
            <a:r>
              <a:rPr lang="en-US" altLang="zh-TW" dirty="0"/>
              <a:t>Presenter Name</a:t>
            </a:r>
            <a:r>
              <a:rPr lang="zh-TW" altLang="en-US" dirty="0"/>
              <a:t>｜</a:t>
            </a:r>
            <a:r>
              <a:rPr lang="en-US" altLang="zh-TW" dirty="0"/>
              <a:t>Department </a:t>
            </a:r>
            <a:endParaRPr lang="en-US" dirty="0"/>
          </a:p>
        </p:txBody>
      </p:sp>
      <p:sp>
        <p:nvSpPr>
          <p:cNvPr id="10" name="標題 1">
            <a:extLst>
              <a:ext uri="{FF2B5EF4-FFF2-40B4-BE49-F238E27FC236}">
                <a16:creationId xmlns:a16="http://schemas.microsoft.com/office/drawing/2014/main" id="{C41E9EBA-B88C-4731-B44A-419865607F19}"/>
              </a:ext>
            </a:extLst>
          </p:cNvPr>
          <p:cNvSpPr>
            <a:spLocks noGrp="1"/>
          </p:cNvSpPr>
          <p:nvPr>
            <p:ph type="ctrTitle" hasCustomPrompt="1"/>
          </p:nvPr>
        </p:nvSpPr>
        <p:spPr>
          <a:xfrm>
            <a:off x="896647" y="1137872"/>
            <a:ext cx="9144000" cy="1864899"/>
          </a:xfrm>
        </p:spPr>
        <p:txBody>
          <a:bodyPr anchor="t">
            <a:normAutofit/>
          </a:bodyPr>
          <a:lstStyle>
            <a:lvl1pPr algn="l">
              <a:lnSpc>
                <a:spcPct val="110000"/>
              </a:lnSpc>
              <a:defRPr sz="4600" b="0">
                <a:solidFill>
                  <a:schemeClr val="tx1"/>
                </a:solidFill>
                <a:latin typeface="+mj-lt"/>
                <a:ea typeface="+mj-ea"/>
              </a:defRPr>
            </a:lvl1pPr>
          </a:lstStyle>
          <a:p>
            <a:r>
              <a:rPr lang="en-US" altLang="zh-TW" dirty="0"/>
              <a:t>Presentation Title Goes Here</a:t>
            </a:r>
            <a:br>
              <a:rPr lang="en-US" altLang="zh-TW" dirty="0"/>
            </a:br>
            <a:r>
              <a:rPr lang="en-US" altLang="zh-TW" dirty="0"/>
              <a:t>Maximum 2 Lines (32-46pt)</a:t>
            </a:r>
            <a:endParaRPr lang="en-US" dirty="0"/>
          </a:p>
        </p:txBody>
      </p:sp>
      <p:sp>
        <p:nvSpPr>
          <p:cNvPr id="11" name="文字版面配置區 4">
            <a:extLst>
              <a:ext uri="{FF2B5EF4-FFF2-40B4-BE49-F238E27FC236}">
                <a16:creationId xmlns:a16="http://schemas.microsoft.com/office/drawing/2014/main" id="{35B9A589-C73E-46B0-B30E-8BBC42A4E098}"/>
              </a:ext>
            </a:extLst>
          </p:cNvPr>
          <p:cNvSpPr>
            <a:spLocks noGrp="1"/>
          </p:cNvSpPr>
          <p:nvPr>
            <p:ph type="body" sz="quarter" idx="12" hasCustomPrompt="1"/>
          </p:nvPr>
        </p:nvSpPr>
        <p:spPr>
          <a:xfrm>
            <a:off x="934219" y="738191"/>
            <a:ext cx="2133446" cy="380427"/>
          </a:xfrm>
        </p:spPr>
        <p:txBody>
          <a:bodyPr>
            <a:normAutofit/>
          </a:bodyPr>
          <a:lstStyle>
            <a:lvl1pPr marL="0" indent="0">
              <a:buNone/>
              <a:defRPr sz="1800">
                <a:solidFill>
                  <a:srgbClr val="0070C0"/>
                </a:solidFill>
              </a:defRPr>
            </a:lvl1pPr>
          </a:lstStyle>
          <a:p>
            <a:pPr lvl="0"/>
            <a:r>
              <a:rPr lang="en-US" altLang="zh-TW" dirty="0"/>
              <a:t>Cover </a:t>
            </a:r>
            <a:r>
              <a:rPr lang="en-US" altLang="zh-TW" dirty="0" err="1"/>
              <a:t>Page_Image</a:t>
            </a:r>
            <a:endParaRPr lang="zh-TW" altLang="en-US" dirty="0"/>
          </a:p>
        </p:txBody>
      </p:sp>
    </p:spTree>
    <p:extLst>
      <p:ext uri="{BB962C8B-B14F-4D97-AF65-F5344CB8AC3E}">
        <p14:creationId xmlns:p14="http://schemas.microsoft.com/office/powerpoint/2010/main" val="404786958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reak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4B44CAB8-9DEC-4DEF-99E0-D78F53E4F834}"/>
              </a:ext>
            </a:extLst>
          </p:cNvPr>
          <p:cNvSpPr>
            <a:spLocks noGrp="1"/>
          </p:cNvSpPr>
          <p:nvPr>
            <p:ph type="ctrTitle" hasCustomPrompt="1"/>
          </p:nvPr>
        </p:nvSpPr>
        <p:spPr>
          <a:xfrm>
            <a:off x="896647" y="1118621"/>
            <a:ext cx="9144000" cy="1864899"/>
          </a:xfrm>
        </p:spPr>
        <p:txBody>
          <a:bodyPr anchor="t">
            <a:normAutofit/>
          </a:bodyPr>
          <a:lstStyle>
            <a:lvl1pPr algn="l">
              <a:lnSpc>
                <a:spcPct val="110000"/>
              </a:lnSpc>
              <a:defRPr sz="4600" b="0">
                <a:solidFill>
                  <a:schemeClr val="bg1"/>
                </a:solidFill>
                <a:latin typeface="+mj-lt"/>
                <a:ea typeface="Verdana" panose="020B0604030504040204" pitchFamily="34" charset="0"/>
              </a:defRPr>
            </a:lvl1pPr>
          </a:lstStyle>
          <a:p>
            <a:r>
              <a:rPr lang="en-US" altLang="zh-TW" dirty="0"/>
              <a:t>Break Page Title Goes Here</a:t>
            </a:r>
            <a:br>
              <a:rPr lang="en-US" altLang="zh-TW" dirty="0"/>
            </a:br>
            <a:r>
              <a:rPr lang="en-US" altLang="zh-TW" dirty="0"/>
              <a:t>Maximum 2 Lines (32-46pt)</a:t>
            </a:r>
            <a:endParaRPr lang="en-US" dirty="0"/>
          </a:p>
        </p:txBody>
      </p:sp>
      <p:sp>
        <p:nvSpPr>
          <p:cNvPr id="6" name="副標題 2">
            <a:extLst>
              <a:ext uri="{FF2B5EF4-FFF2-40B4-BE49-F238E27FC236}">
                <a16:creationId xmlns:a16="http://schemas.microsoft.com/office/drawing/2014/main" id="{814F8012-3519-4A75-B26B-57773CA554B6}"/>
              </a:ext>
            </a:extLst>
          </p:cNvPr>
          <p:cNvSpPr>
            <a:spLocks noGrp="1"/>
          </p:cNvSpPr>
          <p:nvPr>
            <p:ph type="subTitle" idx="1" hasCustomPrompt="1"/>
          </p:nvPr>
        </p:nvSpPr>
        <p:spPr>
          <a:xfrm>
            <a:off x="896647" y="3015632"/>
            <a:ext cx="9144000" cy="1353169"/>
          </a:xfrm>
        </p:spPr>
        <p:txBody>
          <a:bodyPr>
            <a:normAutofit/>
          </a:bodyPr>
          <a:lstStyle>
            <a:lvl1pPr marL="0" indent="0" algn="l">
              <a:lnSpc>
                <a:spcPct val="110000"/>
              </a:lnSpc>
              <a:spcBef>
                <a:spcPts val="0"/>
              </a:spcBef>
              <a:buNone/>
              <a:defRPr sz="3200">
                <a:solidFill>
                  <a:schemeClr val="bg1"/>
                </a:solidFill>
                <a:latin typeface="+mj-lt"/>
                <a:ea typeface="Verdana" panose="020B0604030504040204" pitchFamily="34" charset="0"/>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ltLang="zh-TW" dirty="0"/>
              <a:t>Break Page Subtitle Goes Here</a:t>
            </a:r>
            <a:br>
              <a:rPr lang="en-US" altLang="zh-TW" dirty="0"/>
            </a:br>
            <a:r>
              <a:rPr lang="en-US" altLang="zh-TW" dirty="0"/>
              <a:t>Maximum 2 Lines (24-32pt)</a:t>
            </a:r>
          </a:p>
        </p:txBody>
      </p:sp>
    </p:spTree>
    <p:extLst>
      <p:ext uri="{BB962C8B-B14F-4D97-AF65-F5344CB8AC3E}">
        <p14:creationId xmlns:p14="http://schemas.microsoft.com/office/powerpoint/2010/main" val="1964055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Page">
    <p:bg>
      <p:bgPr>
        <a:solidFill>
          <a:schemeClr val="bg1"/>
        </a:solidFill>
        <a:effectLst/>
      </p:bgPr>
    </p:bg>
    <p:spTree>
      <p:nvGrpSpPr>
        <p:cNvPr id="1" name=""/>
        <p:cNvGrpSpPr/>
        <p:nvPr/>
      </p:nvGrpSpPr>
      <p:grpSpPr>
        <a:xfrm>
          <a:off x="0" y="0"/>
          <a:ext cx="0" cy="0"/>
          <a:chOff x="0" y="0"/>
          <a:chExt cx="0" cy="0"/>
        </a:xfrm>
      </p:grpSpPr>
      <p:pic>
        <p:nvPicPr>
          <p:cNvPr id="4" name="圖片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
        <p:nvSpPr>
          <p:cNvPr id="2" name="標題 1">
            <a:extLst>
              <a:ext uri="{FF2B5EF4-FFF2-40B4-BE49-F238E27FC236}">
                <a16:creationId xmlns:a16="http://schemas.microsoft.com/office/drawing/2014/main" id="{E8CA6B8E-EB08-4AB0-9768-E121F12ABA2B}"/>
              </a:ext>
            </a:extLst>
          </p:cNvPr>
          <p:cNvSpPr>
            <a:spLocks noGrp="1"/>
          </p:cNvSpPr>
          <p:nvPr>
            <p:ph type="title" hasCustomPrompt="1"/>
          </p:nvPr>
        </p:nvSpPr>
        <p:spPr>
          <a:xfrm>
            <a:off x="406400" y="372981"/>
            <a:ext cx="11379200" cy="679396"/>
          </a:xfrm>
        </p:spPr>
        <p:txBody>
          <a:bodyPr anchor="t"/>
          <a:lstStyle>
            <a:lvl1pPr>
              <a:defRPr/>
            </a:lvl1pPr>
          </a:lstStyle>
          <a:p>
            <a:r>
              <a:rPr lang="en-US" altLang="zh-TW" dirty="0"/>
              <a:t>Page Title Goes Here (32pt)</a:t>
            </a:r>
            <a:endParaRPr lang="en-US" dirty="0"/>
          </a:p>
        </p:txBody>
      </p:sp>
      <p:sp>
        <p:nvSpPr>
          <p:cNvPr id="3" name="內容版面配置區 2">
            <a:extLst>
              <a:ext uri="{FF2B5EF4-FFF2-40B4-BE49-F238E27FC236}">
                <a16:creationId xmlns:a16="http://schemas.microsoft.com/office/drawing/2014/main" id="{BEF22CCF-5B81-47DC-861A-B0A56BD7A109}"/>
              </a:ext>
            </a:extLst>
          </p:cNvPr>
          <p:cNvSpPr>
            <a:spLocks noGrp="1"/>
          </p:cNvSpPr>
          <p:nvPr>
            <p:ph idx="1" hasCustomPrompt="1"/>
          </p:nvPr>
        </p:nvSpPr>
        <p:spPr>
          <a:xfrm>
            <a:off x="406400" y="1170462"/>
            <a:ext cx="11379200" cy="4953777"/>
          </a:xfrm>
        </p:spPr>
        <p:txBody>
          <a:bodyPr>
            <a:normAutofit/>
          </a:bodyPr>
          <a:lstStyle>
            <a:lvl1pPr>
              <a:lnSpc>
                <a:spcPct val="110000"/>
              </a:lnSpc>
              <a:defRPr sz="2000">
                <a:solidFill>
                  <a:schemeClr val="tx1"/>
                </a:solidFill>
              </a:defRPr>
            </a:lvl1pPr>
          </a:lstStyle>
          <a:p>
            <a:pPr lvl="0"/>
            <a:r>
              <a:rPr lang="en-US" altLang="zh-TW" dirty="0"/>
              <a:t>Content goes here (20pt)</a:t>
            </a:r>
            <a:endParaRPr lang="en-US" dirty="0"/>
          </a:p>
        </p:txBody>
      </p:sp>
      <p:sp>
        <p:nvSpPr>
          <p:cNvPr id="52" name="文字方塊 51">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53" name="文字方塊 52">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grpSp>
        <p:nvGrpSpPr>
          <p:cNvPr id="56" name="群組 55">
            <a:extLst>
              <a:ext uri="{FF2B5EF4-FFF2-40B4-BE49-F238E27FC236}">
                <a16:creationId xmlns:a16="http://schemas.microsoft.com/office/drawing/2014/main" id="{C6679C81-FA7B-49D6-82F0-C4527FE45A1A}"/>
              </a:ext>
            </a:extLst>
          </p:cNvPr>
          <p:cNvGrpSpPr/>
          <p:nvPr userDrawn="1"/>
        </p:nvGrpSpPr>
        <p:grpSpPr>
          <a:xfrm>
            <a:off x="0" y="7008895"/>
            <a:ext cx="10358581" cy="423333"/>
            <a:chOff x="0" y="5256671"/>
            <a:chExt cx="7768936" cy="317500"/>
          </a:xfrm>
        </p:grpSpPr>
        <p:grpSp>
          <p:nvGrpSpPr>
            <p:cNvPr id="57" name="群組 56">
              <a:extLst>
                <a:ext uri="{FF2B5EF4-FFF2-40B4-BE49-F238E27FC236}">
                  <a16:creationId xmlns:a16="http://schemas.microsoft.com/office/drawing/2014/main" id="{C83B355D-DD8E-4886-8A9F-6BD99BFA8CC1}"/>
                </a:ext>
              </a:extLst>
            </p:cNvPr>
            <p:cNvGrpSpPr/>
            <p:nvPr userDrawn="1"/>
          </p:nvGrpSpPr>
          <p:grpSpPr>
            <a:xfrm>
              <a:off x="0" y="5256671"/>
              <a:ext cx="1321058" cy="317500"/>
              <a:chOff x="0" y="5256671"/>
              <a:chExt cx="1321058" cy="317500"/>
            </a:xfrm>
          </p:grpSpPr>
          <p:sp>
            <p:nvSpPr>
              <p:cNvPr id="70" name="矩形 69">
                <a:extLst>
                  <a:ext uri="{FF2B5EF4-FFF2-40B4-BE49-F238E27FC236}">
                    <a16:creationId xmlns:a16="http://schemas.microsoft.com/office/drawing/2014/main" id="{1D816D3C-CE63-43F8-AC10-9DFB5870EB4D}"/>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1" name="矩形 70">
                <a:extLst>
                  <a:ext uri="{FF2B5EF4-FFF2-40B4-BE49-F238E27FC236}">
                    <a16:creationId xmlns:a16="http://schemas.microsoft.com/office/drawing/2014/main" id="{69A01EFE-0697-4F67-B705-BD578BDC33D9}"/>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2" name="矩形 71">
                <a:extLst>
                  <a:ext uri="{FF2B5EF4-FFF2-40B4-BE49-F238E27FC236}">
                    <a16:creationId xmlns:a16="http://schemas.microsoft.com/office/drawing/2014/main" id="{8301EB92-F246-4444-B0E1-6E87E28C044D}"/>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8" name="群組 57">
              <a:extLst>
                <a:ext uri="{FF2B5EF4-FFF2-40B4-BE49-F238E27FC236}">
                  <a16:creationId xmlns:a16="http://schemas.microsoft.com/office/drawing/2014/main" id="{93191886-C7FD-40A9-9609-57D23380C62A}"/>
                </a:ext>
              </a:extLst>
            </p:cNvPr>
            <p:cNvGrpSpPr/>
            <p:nvPr userDrawn="1"/>
          </p:nvGrpSpPr>
          <p:grpSpPr>
            <a:xfrm>
              <a:off x="2441313" y="5256671"/>
              <a:ext cx="5327623" cy="317500"/>
              <a:chOff x="2441313" y="5256671"/>
              <a:chExt cx="5327623" cy="317500"/>
            </a:xfrm>
          </p:grpSpPr>
          <p:sp>
            <p:nvSpPr>
              <p:cNvPr id="59" name="矩形 58">
                <a:extLst>
                  <a:ext uri="{FF2B5EF4-FFF2-40B4-BE49-F238E27FC236}">
                    <a16:creationId xmlns:a16="http://schemas.microsoft.com/office/drawing/2014/main" id="{28AB9346-3609-4A19-8654-F1F89BAE3612}"/>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135B6686-F122-4A22-94BF-260EA4280B4D}"/>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C5EDC45A-2526-46FB-81F7-22EE4872B6AF}"/>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AFCD5573-BB02-4224-8085-E3255856A371}"/>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3" name="矩形 62">
                <a:extLst>
                  <a:ext uri="{FF2B5EF4-FFF2-40B4-BE49-F238E27FC236}">
                    <a16:creationId xmlns:a16="http://schemas.microsoft.com/office/drawing/2014/main" id="{2F5AD25B-A76B-4782-93A6-A6CFC1F793DB}"/>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E31B0147-73D4-4A0E-AB60-BDE5D65A0FDA}"/>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20304356-DABA-4FB6-ACD2-3D555DA768DA}"/>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6" name="矩形 65">
                <a:extLst>
                  <a:ext uri="{FF2B5EF4-FFF2-40B4-BE49-F238E27FC236}">
                    <a16:creationId xmlns:a16="http://schemas.microsoft.com/office/drawing/2014/main" id="{2A159378-35B9-4C04-9A3C-0680A883C20B}"/>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7" name="矩形 66">
                <a:extLst>
                  <a:ext uri="{FF2B5EF4-FFF2-40B4-BE49-F238E27FC236}">
                    <a16:creationId xmlns:a16="http://schemas.microsoft.com/office/drawing/2014/main" id="{06606867-067F-4294-8D14-6300FB59E7A6}"/>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8" name="矩形 67">
                <a:extLst>
                  <a:ext uri="{FF2B5EF4-FFF2-40B4-BE49-F238E27FC236}">
                    <a16:creationId xmlns:a16="http://schemas.microsoft.com/office/drawing/2014/main" id="{C0B9F68F-02FA-4B05-BD0F-46245FAE32A1}"/>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9" name="矩形 68">
                <a:extLst>
                  <a:ext uri="{FF2B5EF4-FFF2-40B4-BE49-F238E27FC236}">
                    <a16:creationId xmlns:a16="http://schemas.microsoft.com/office/drawing/2014/main" id="{91D1B3FF-2264-4799-880B-9AC63365E06E}"/>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Tree>
    <p:extLst>
      <p:ext uri="{BB962C8B-B14F-4D97-AF65-F5344CB8AC3E}">
        <p14:creationId xmlns:p14="http://schemas.microsoft.com/office/powerpoint/2010/main" val="3216881540"/>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age_Title Only">
    <p:bg>
      <p:bgPr>
        <a:solidFill>
          <a:schemeClr val="bg1"/>
        </a:solidFill>
        <a:effectLst/>
      </p:bgPr>
    </p:bg>
    <p:spTree>
      <p:nvGrpSpPr>
        <p:cNvPr id="1" name=""/>
        <p:cNvGrpSpPr/>
        <p:nvPr/>
      </p:nvGrpSpPr>
      <p:grpSpPr>
        <a:xfrm>
          <a:off x="0" y="0"/>
          <a:ext cx="0" cy="0"/>
          <a:chOff x="0" y="0"/>
          <a:chExt cx="0" cy="0"/>
        </a:xfrm>
      </p:grpSpPr>
      <p:sp>
        <p:nvSpPr>
          <p:cNvPr id="5" name="標題 4">
            <a:extLst>
              <a:ext uri="{FF2B5EF4-FFF2-40B4-BE49-F238E27FC236}">
                <a16:creationId xmlns:a16="http://schemas.microsoft.com/office/drawing/2014/main" id="{2702107E-0279-495A-BF89-DD786730CC37}"/>
              </a:ext>
            </a:extLst>
          </p:cNvPr>
          <p:cNvSpPr>
            <a:spLocks noGrp="1"/>
          </p:cNvSpPr>
          <p:nvPr>
            <p:ph type="title" hasCustomPrompt="1"/>
          </p:nvPr>
        </p:nvSpPr>
        <p:spPr/>
        <p:txBody>
          <a:bodyPr/>
          <a:lstStyle>
            <a:lvl1pPr>
              <a:defRPr/>
            </a:lvl1pPr>
          </a:lstStyle>
          <a:p>
            <a:r>
              <a:rPr lang="en-US" altLang="zh-TW" dirty="0"/>
              <a:t>Page Title Goes Here (28-32pt)</a:t>
            </a:r>
            <a:endParaRPr lang="en-US" dirty="0"/>
          </a:p>
        </p:txBody>
      </p:sp>
      <p:grpSp>
        <p:nvGrpSpPr>
          <p:cNvPr id="49" name="群組 48">
            <a:extLst>
              <a:ext uri="{FF2B5EF4-FFF2-40B4-BE49-F238E27FC236}">
                <a16:creationId xmlns:a16="http://schemas.microsoft.com/office/drawing/2014/main" id="{8AEA3F42-8ED3-4628-89CC-CE9DC5D371F1}"/>
              </a:ext>
            </a:extLst>
          </p:cNvPr>
          <p:cNvGrpSpPr/>
          <p:nvPr userDrawn="1"/>
        </p:nvGrpSpPr>
        <p:grpSpPr>
          <a:xfrm>
            <a:off x="0" y="7008895"/>
            <a:ext cx="10358581" cy="423333"/>
            <a:chOff x="0" y="5256671"/>
            <a:chExt cx="7768936" cy="317500"/>
          </a:xfrm>
        </p:grpSpPr>
        <p:grpSp>
          <p:nvGrpSpPr>
            <p:cNvPr id="50" name="群組 49">
              <a:extLst>
                <a:ext uri="{FF2B5EF4-FFF2-40B4-BE49-F238E27FC236}">
                  <a16:creationId xmlns:a16="http://schemas.microsoft.com/office/drawing/2014/main" id="{BDCAFD82-B8CA-4738-843C-0FC6D7C6C5F5}"/>
                </a:ext>
              </a:extLst>
            </p:cNvPr>
            <p:cNvGrpSpPr/>
            <p:nvPr userDrawn="1"/>
          </p:nvGrpSpPr>
          <p:grpSpPr>
            <a:xfrm>
              <a:off x="0" y="5256671"/>
              <a:ext cx="1321058" cy="317500"/>
              <a:chOff x="0" y="5256671"/>
              <a:chExt cx="1321058" cy="317500"/>
            </a:xfrm>
          </p:grpSpPr>
          <p:sp>
            <p:nvSpPr>
              <p:cNvPr id="63" name="矩形 62">
                <a:extLst>
                  <a:ext uri="{FF2B5EF4-FFF2-40B4-BE49-F238E27FC236}">
                    <a16:creationId xmlns:a16="http://schemas.microsoft.com/office/drawing/2014/main" id="{3C299B04-932C-4519-8E76-017FBD3A569A}"/>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4" name="矩形 63">
                <a:extLst>
                  <a:ext uri="{FF2B5EF4-FFF2-40B4-BE49-F238E27FC236}">
                    <a16:creationId xmlns:a16="http://schemas.microsoft.com/office/drawing/2014/main" id="{0B20FB35-F562-4362-B563-165B2407465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5" name="矩形 64">
                <a:extLst>
                  <a:ext uri="{FF2B5EF4-FFF2-40B4-BE49-F238E27FC236}">
                    <a16:creationId xmlns:a16="http://schemas.microsoft.com/office/drawing/2014/main" id="{0DE5232E-7B0E-4AEF-9D43-2E173D30F319}"/>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51" name="群組 50">
              <a:extLst>
                <a:ext uri="{FF2B5EF4-FFF2-40B4-BE49-F238E27FC236}">
                  <a16:creationId xmlns:a16="http://schemas.microsoft.com/office/drawing/2014/main" id="{9D8FD8BE-B575-4450-95FD-B132F2FBF30C}"/>
                </a:ext>
              </a:extLst>
            </p:cNvPr>
            <p:cNvGrpSpPr/>
            <p:nvPr userDrawn="1"/>
          </p:nvGrpSpPr>
          <p:grpSpPr>
            <a:xfrm>
              <a:off x="2441313" y="5256671"/>
              <a:ext cx="5327623" cy="317500"/>
              <a:chOff x="2441313" y="5256671"/>
              <a:chExt cx="5327623" cy="317500"/>
            </a:xfrm>
          </p:grpSpPr>
          <p:sp>
            <p:nvSpPr>
              <p:cNvPr id="52" name="矩形 51">
                <a:extLst>
                  <a:ext uri="{FF2B5EF4-FFF2-40B4-BE49-F238E27FC236}">
                    <a16:creationId xmlns:a16="http://schemas.microsoft.com/office/drawing/2014/main" id="{FA6D470B-49E6-460D-A2F7-3AA3A3B20021}"/>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矩形 52">
                <a:extLst>
                  <a:ext uri="{FF2B5EF4-FFF2-40B4-BE49-F238E27FC236}">
                    <a16:creationId xmlns:a16="http://schemas.microsoft.com/office/drawing/2014/main" id="{184DC0D2-E428-4F38-B04F-7DC781667A34}"/>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4" name="矩形 53">
                <a:extLst>
                  <a:ext uri="{FF2B5EF4-FFF2-40B4-BE49-F238E27FC236}">
                    <a16:creationId xmlns:a16="http://schemas.microsoft.com/office/drawing/2014/main" id="{681D0C29-FC7B-4F3F-BD32-E40206A62370}"/>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5" name="矩形 54">
                <a:extLst>
                  <a:ext uri="{FF2B5EF4-FFF2-40B4-BE49-F238E27FC236}">
                    <a16:creationId xmlns:a16="http://schemas.microsoft.com/office/drawing/2014/main" id="{D032A71D-5325-4D28-B4B1-6B6BF4AAB30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6" name="矩形 55">
                <a:extLst>
                  <a:ext uri="{FF2B5EF4-FFF2-40B4-BE49-F238E27FC236}">
                    <a16:creationId xmlns:a16="http://schemas.microsoft.com/office/drawing/2014/main" id="{738A70FA-150B-4708-B634-5950D1A00DF9}"/>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7" name="矩形 56">
                <a:extLst>
                  <a:ext uri="{FF2B5EF4-FFF2-40B4-BE49-F238E27FC236}">
                    <a16:creationId xmlns:a16="http://schemas.microsoft.com/office/drawing/2014/main" id="{D3854FDB-0E9B-46EB-A142-15E78B7E2E6D}"/>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8" name="矩形 57">
                <a:extLst>
                  <a:ext uri="{FF2B5EF4-FFF2-40B4-BE49-F238E27FC236}">
                    <a16:creationId xmlns:a16="http://schemas.microsoft.com/office/drawing/2014/main" id="{6FD94B95-A8E7-4E9F-A041-9A4885EECF37}"/>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9" name="矩形 58">
                <a:extLst>
                  <a:ext uri="{FF2B5EF4-FFF2-40B4-BE49-F238E27FC236}">
                    <a16:creationId xmlns:a16="http://schemas.microsoft.com/office/drawing/2014/main" id="{1F6E9780-35D6-4AF2-80BB-A3569C8BA2E3}"/>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0" name="矩形 59">
                <a:extLst>
                  <a:ext uri="{FF2B5EF4-FFF2-40B4-BE49-F238E27FC236}">
                    <a16:creationId xmlns:a16="http://schemas.microsoft.com/office/drawing/2014/main" id="{4A11A937-B5ED-40BD-9B95-73D6C01FBDBD}"/>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1" name="矩形 60">
                <a:extLst>
                  <a:ext uri="{FF2B5EF4-FFF2-40B4-BE49-F238E27FC236}">
                    <a16:creationId xmlns:a16="http://schemas.microsoft.com/office/drawing/2014/main" id="{71465539-F4BD-48C9-8CC9-44AE7B97586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2" name="矩形 61">
                <a:extLst>
                  <a:ext uri="{FF2B5EF4-FFF2-40B4-BE49-F238E27FC236}">
                    <a16:creationId xmlns:a16="http://schemas.microsoft.com/office/drawing/2014/main" id="{85BCC709-E469-4948-B4D5-AF8897457737}"/>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4" name="文字方塊 23">
            <a:extLst>
              <a:ext uri="{FF2B5EF4-FFF2-40B4-BE49-F238E27FC236}">
                <a16:creationId xmlns:a16="http://schemas.microsoft.com/office/drawing/2014/main" id="{4EB72046-7EFA-4D5B-9003-30F89B1D91A8}"/>
              </a:ext>
            </a:extLst>
          </p:cNvPr>
          <p:cNvSpPr txBox="1"/>
          <p:nvPr userDrawn="1"/>
        </p:nvSpPr>
        <p:spPr>
          <a:xfrm>
            <a:off x="116026" y="6478467"/>
            <a:ext cx="402674" cy="307777"/>
          </a:xfrm>
          <a:prstGeom prst="rect">
            <a:avLst/>
          </a:prstGeom>
          <a:noFill/>
        </p:spPr>
        <p:txBody>
          <a:bodyPr wrap="none" rtlCol="0">
            <a:spAutoFit/>
          </a:bodyPr>
          <a:lstStyle/>
          <a:p>
            <a:fld id="{823BD820-02AB-4111-88E2-98F36ECA9073}" type="slidenum">
              <a:rPr lang="en-US" sz="1400" smtClean="0"/>
              <a:t>‹#›</a:t>
            </a:fld>
            <a:endParaRPr lang="en-US" sz="1400"/>
          </a:p>
        </p:txBody>
      </p:sp>
      <p:sp>
        <p:nvSpPr>
          <p:cNvPr id="25" name="文字方塊 24">
            <a:extLst>
              <a:ext uri="{FF2B5EF4-FFF2-40B4-BE49-F238E27FC236}">
                <a16:creationId xmlns:a16="http://schemas.microsoft.com/office/drawing/2014/main" id="{E8C46C83-D634-4B86-88D9-5C8B6A41BF9F}"/>
              </a:ext>
            </a:extLst>
          </p:cNvPr>
          <p:cNvSpPr txBox="1"/>
          <p:nvPr userDrawn="1"/>
        </p:nvSpPr>
        <p:spPr>
          <a:xfrm>
            <a:off x="482266" y="6528265"/>
            <a:ext cx="1191352" cy="24622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000"/>
              <a:t>Delta Confidential</a:t>
            </a:r>
          </a:p>
        </p:txBody>
      </p:sp>
      <p:pic>
        <p:nvPicPr>
          <p:cNvPr id="23" name="圖片 2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3440" y="6225871"/>
            <a:ext cx="1368000" cy="620345"/>
          </a:xfrm>
          <a:prstGeom prst="rect">
            <a:avLst/>
          </a:prstGeom>
        </p:spPr>
      </p:pic>
    </p:spTree>
    <p:extLst>
      <p:ext uri="{BB962C8B-B14F-4D97-AF65-F5344CB8AC3E}">
        <p14:creationId xmlns:p14="http://schemas.microsoft.com/office/powerpoint/2010/main" val="34599164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ing Page_Whi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標題 1">
            <a:extLst>
              <a:ext uri="{FF2B5EF4-FFF2-40B4-BE49-F238E27FC236}">
                <a16:creationId xmlns:a16="http://schemas.microsoft.com/office/drawing/2014/main" id="{5F44435C-4EDB-4AB4-AAD6-08BF8682BAAC}"/>
              </a:ext>
            </a:extLst>
          </p:cNvPr>
          <p:cNvSpPr>
            <a:spLocks noGrp="1"/>
          </p:cNvSpPr>
          <p:nvPr>
            <p:ph type="ctrTitle" hasCustomPrompt="1"/>
          </p:nvPr>
        </p:nvSpPr>
        <p:spPr>
          <a:xfrm>
            <a:off x="896647" y="1099372"/>
            <a:ext cx="9144000" cy="1864899"/>
          </a:xfrm>
        </p:spPr>
        <p:txBody>
          <a:bodyPr anchor="t">
            <a:normAutofit/>
          </a:bodyPr>
          <a:lstStyle>
            <a:lvl1pPr algn="l">
              <a:lnSpc>
                <a:spcPct val="110000"/>
              </a:lnSpc>
              <a:defRPr sz="4600" b="0">
                <a:solidFill>
                  <a:schemeClr val="tx1"/>
                </a:solidFill>
                <a:latin typeface="+mj-lt"/>
                <a:ea typeface="Verdana" panose="020B0604030504040204" pitchFamily="34" charset="0"/>
              </a:defRPr>
            </a:lvl1pPr>
          </a:lstStyle>
          <a:p>
            <a:r>
              <a:rPr lang="en-US" altLang="zh-TW" dirty="0"/>
              <a:t>Smarter. Greener. Together. </a:t>
            </a:r>
            <a:br>
              <a:rPr lang="en-US" dirty="0"/>
            </a:br>
            <a:endParaRPr lang="en-US" dirty="0"/>
          </a:p>
        </p:txBody>
      </p:sp>
      <p:sp>
        <p:nvSpPr>
          <p:cNvPr id="6" name="文字版面配置區 4">
            <a:extLst>
              <a:ext uri="{FF2B5EF4-FFF2-40B4-BE49-F238E27FC236}">
                <a16:creationId xmlns:a16="http://schemas.microsoft.com/office/drawing/2014/main" id="{38C78CAC-0A95-4D70-9EAA-CE96A16F9E0A}"/>
              </a:ext>
            </a:extLst>
          </p:cNvPr>
          <p:cNvSpPr>
            <a:spLocks noGrp="1"/>
          </p:cNvSpPr>
          <p:nvPr>
            <p:ph type="body" sz="quarter" idx="12" hasCustomPrompt="1"/>
          </p:nvPr>
        </p:nvSpPr>
        <p:spPr>
          <a:xfrm>
            <a:off x="385370" y="60183"/>
            <a:ext cx="2133446" cy="380427"/>
          </a:xfrm>
        </p:spPr>
        <p:txBody>
          <a:bodyPr>
            <a:normAutofit/>
          </a:bodyPr>
          <a:lstStyle>
            <a:lvl1pPr marL="0" indent="0">
              <a:buNone/>
              <a:defRPr sz="1600">
                <a:solidFill>
                  <a:srgbClr val="0070C0"/>
                </a:solidFill>
              </a:defRPr>
            </a:lvl1pPr>
          </a:lstStyle>
          <a:p>
            <a:pPr lvl="0"/>
            <a:r>
              <a:rPr lang="en-US" altLang="zh-TW" dirty="0"/>
              <a:t>Ending </a:t>
            </a:r>
            <a:r>
              <a:rPr lang="en-US" altLang="zh-TW" dirty="0" err="1"/>
              <a:t>Page_White</a:t>
            </a:r>
            <a:endParaRPr lang="zh-TW" altLang="en-US" dirty="0"/>
          </a:p>
        </p:txBody>
      </p:sp>
    </p:spTree>
    <p:extLst>
      <p:ext uri="{BB962C8B-B14F-4D97-AF65-F5344CB8AC3E}">
        <p14:creationId xmlns:p14="http://schemas.microsoft.com/office/powerpoint/2010/main" val="3218489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ing Page_Image">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3B392DE6-2AF2-4E28-AF03-1A4F3D15BEAE}"/>
              </a:ext>
            </a:extLst>
          </p:cNvPr>
          <p:cNvSpPr/>
          <p:nvPr userDrawn="1"/>
        </p:nvSpPr>
        <p:spPr>
          <a:xfrm>
            <a:off x="0" y="-1"/>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3" name="矩形 52"/>
          <p:cNvSpPr/>
          <p:nvPr userDrawn="1"/>
        </p:nvSpPr>
        <p:spPr>
          <a:xfrm>
            <a:off x="0" y="-1"/>
            <a:ext cx="12192000" cy="4831883"/>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dirty="0"/>
          </a:p>
        </p:txBody>
      </p:sp>
      <p:grpSp>
        <p:nvGrpSpPr>
          <p:cNvPr id="35" name="群組 34">
            <a:extLst>
              <a:ext uri="{FF2B5EF4-FFF2-40B4-BE49-F238E27FC236}">
                <a16:creationId xmlns:a16="http://schemas.microsoft.com/office/drawing/2014/main" id="{ABE8868F-CA4D-431A-BCA3-79708C4A93CC}"/>
              </a:ext>
            </a:extLst>
          </p:cNvPr>
          <p:cNvGrpSpPr/>
          <p:nvPr userDrawn="1"/>
        </p:nvGrpSpPr>
        <p:grpSpPr>
          <a:xfrm>
            <a:off x="0" y="7008895"/>
            <a:ext cx="10358581" cy="423333"/>
            <a:chOff x="0" y="5256671"/>
            <a:chExt cx="7768936" cy="317500"/>
          </a:xfrm>
        </p:grpSpPr>
        <p:grpSp>
          <p:nvGrpSpPr>
            <p:cNvPr id="36" name="群組 35">
              <a:extLst>
                <a:ext uri="{FF2B5EF4-FFF2-40B4-BE49-F238E27FC236}">
                  <a16:creationId xmlns:a16="http://schemas.microsoft.com/office/drawing/2014/main" id="{E5238164-92D2-4070-B189-8D969D4D4C1C}"/>
                </a:ext>
              </a:extLst>
            </p:cNvPr>
            <p:cNvGrpSpPr/>
            <p:nvPr userDrawn="1"/>
          </p:nvGrpSpPr>
          <p:grpSpPr>
            <a:xfrm>
              <a:off x="0" y="5256671"/>
              <a:ext cx="1321058" cy="317500"/>
              <a:chOff x="0" y="5256671"/>
              <a:chExt cx="1321058" cy="317500"/>
            </a:xfrm>
          </p:grpSpPr>
          <p:sp>
            <p:nvSpPr>
              <p:cNvPr id="49" name="矩形 48">
                <a:extLst>
                  <a:ext uri="{FF2B5EF4-FFF2-40B4-BE49-F238E27FC236}">
                    <a16:creationId xmlns:a16="http://schemas.microsoft.com/office/drawing/2014/main" id="{FD4CBB22-8F55-4813-A361-6B31616CEFC5}"/>
                  </a:ext>
                </a:extLst>
              </p:cNvPr>
              <p:cNvSpPr/>
              <p:nvPr/>
            </p:nvSpPr>
            <p:spPr>
              <a:xfrm>
                <a:off x="0" y="5256671"/>
                <a:ext cx="317500" cy="317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0" name="矩形 49">
                <a:extLst>
                  <a:ext uri="{FF2B5EF4-FFF2-40B4-BE49-F238E27FC236}">
                    <a16:creationId xmlns:a16="http://schemas.microsoft.com/office/drawing/2014/main" id="{9AE6129C-E538-40C6-95CE-8D689DA806C3}"/>
                  </a:ext>
                </a:extLst>
              </p:cNvPr>
              <p:cNvSpPr/>
              <p:nvPr userDrawn="1"/>
            </p:nvSpPr>
            <p:spPr>
              <a:xfrm>
                <a:off x="501779" y="5256671"/>
                <a:ext cx="317500" cy="31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1" name="矩形 50">
                <a:extLst>
                  <a:ext uri="{FF2B5EF4-FFF2-40B4-BE49-F238E27FC236}">
                    <a16:creationId xmlns:a16="http://schemas.microsoft.com/office/drawing/2014/main" id="{B42DF3C8-6F17-4F9B-8224-82E6BF529D75}"/>
                  </a:ext>
                </a:extLst>
              </p:cNvPr>
              <p:cNvSpPr/>
              <p:nvPr userDrawn="1"/>
            </p:nvSpPr>
            <p:spPr>
              <a:xfrm>
                <a:off x="1003558" y="5256671"/>
                <a:ext cx="317500" cy="31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nvGrpSpPr>
            <p:cNvPr id="37" name="群組 36">
              <a:extLst>
                <a:ext uri="{FF2B5EF4-FFF2-40B4-BE49-F238E27FC236}">
                  <a16:creationId xmlns:a16="http://schemas.microsoft.com/office/drawing/2014/main" id="{CA03870D-CA4E-4A68-B643-C828AB156380}"/>
                </a:ext>
              </a:extLst>
            </p:cNvPr>
            <p:cNvGrpSpPr/>
            <p:nvPr userDrawn="1"/>
          </p:nvGrpSpPr>
          <p:grpSpPr>
            <a:xfrm>
              <a:off x="2441313" y="5256671"/>
              <a:ext cx="5327623" cy="317500"/>
              <a:chOff x="2441313" y="5256671"/>
              <a:chExt cx="5327623" cy="317500"/>
            </a:xfrm>
          </p:grpSpPr>
          <p:sp>
            <p:nvSpPr>
              <p:cNvPr id="38" name="矩形 37">
                <a:extLst>
                  <a:ext uri="{FF2B5EF4-FFF2-40B4-BE49-F238E27FC236}">
                    <a16:creationId xmlns:a16="http://schemas.microsoft.com/office/drawing/2014/main" id="{204627FC-9E22-4DF5-9620-E588D5B1D754}"/>
                  </a:ext>
                </a:extLst>
              </p:cNvPr>
              <p:cNvSpPr/>
              <p:nvPr/>
            </p:nvSpPr>
            <p:spPr>
              <a:xfrm>
                <a:off x="3944349" y="5256671"/>
                <a:ext cx="317500" cy="317500"/>
              </a:xfrm>
              <a:prstGeom prst="rect">
                <a:avLst/>
              </a:prstGeom>
              <a:solidFill>
                <a:srgbClr val="96E6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9" name="矩形 38">
                <a:extLst>
                  <a:ext uri="{FF2B5EF4-FFF2-40B4-BE49-F238E27FC236}">
                    <a16:creationId xmlns:a16="http://schemas.microsoft.com/office/drawing/2014/main" id="{9FFB4E0B-7913-4DBA-B9BC-22815DD1E9F5}"/>
                  </a:ext>
                </a:extLst>
              </p:cNvPr>
              <p:cNvSpPr/>
              <p:nvPr/>
            </p:nvSpPr>
            <p:spPr>
              <a:xfrm>
                <a:off x="4946373" y="5256671"/>
                <a:ext cx="317500" cy="317500"/>
              </a:xfrm>
              <a:prstGeom prst="rect">
                <a:avLst/>
              </a:prstGeom>
              <a:solidFill>
                <a:srgbClr val="E6F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0" name="矩形 39">
                <a:extLst>
                  <a:ext uri="{FF2B5EF4-FFF2-40B4-BE49-F238E27FC236}">
                    <a16:creationId xmlns:a16="http://schemas.microsoft.com/office/drawing/2014/main" id="{2E6EA7B8-B405-4A2B-8F6C-66644CA26469}"/>
                  </a:ext>
                </a:extLst>
              </p:cNvPr>
              <p:cNvSpPr/>
              <p:nvPr/>
            </p:nvSpPr>
            <p:spPr>
              <a:xfrm>
                <a:off x="6449409" y="5256671"/>
                <a:ext cx="317500" cy="317500"/>
              </a:xfrm>
              <a:prstGeom prst="rect">
                <a:avLst/>
              </a:prstGeom>
              <a:solidFill>
                <a:srgbClr val="FFDC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矩形 40">
                <a:extLst>
                  <a:ext uri="{FF2B5EF4-FFF2-40B4-BE49-F238E27FC236}">
                    <a16:creationId xmlns:a16="http://schemas.microsoft.com/office/drawing/2014/main" id="{531D023A-8171-4D62-AD85-A3E51BEECBCA}"/>
                  </a:ext>
                </a:extLst>
              </p:cNvPr>
              <p:cNvSpPr/>
              <p:nvPr/>
            </p:nvSpPr>
            <p:spPr>
              <a:xfrm>
                <a:off x="2942325" y="5256671"/>
                <a:ext cx="317500" cy="317500"/>
              </a:xfrm>
              <a:prstGeom prst="rect">
                <a:avLst/>
              </a:prstGeom>
              <a:solidFill>
                <a:srgbClr val="1E50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2" name="矩形 41">
                <a:extLst>
                  <a:ext uri="{FF2B5EF4-FFF2-40B4-BE49-F238E27FC236}">
                    <a16:creationId xmlns:a16="http://schemas.microsoft.com/office/drawing/2014/main" id="{B8F6B22F-DD93-4EC4-8E97-7E5A61686F3E}"/>
                  </a:ext>
                </a:extLst>
              </p:cNvPr>
              <p:cNvSpPr/>
              <p:nvPr/>
            </p:nvSpPr>
            <p:spPr>
              <a:xfrm>
                <a:off x="4445361" y="5256671"/>
                <a:ext cx="317500" cy="317500"/>
              </a:xfrm>
              <a:prstGeom prst="rect">
                <a:avLst/>
              </a:prstGeom>
              <a:solidFill>
                <a:srgbClr val="008C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3" name="矩形 42">
                <a:extLst>
                  <a:ext uri="{FF2B5EF4-FFF2-40B4-BE49-F238E27FC236}">
                    <a16:creationId xmlns:a16="http://schemas.microsoft.com/office/drawing/2014/main" id="{28833C97-6D6E-40FC-976A-CF4C2B0848D9}"/>
                  </a:ext>
                </a:extLst>
              </p:cNvPr>
              <p:cNvSpPr/>
              <p:nvPr/>
            </p:nvSpPr>
            <p:spPr>
              <a:xfrm>
                <a:off x="5447385" y="5256671"/>
                <a:ext cx="317500" cy="317500"/>
              </a:xfrm>
              <a:prstGeom prst="rect">
                <a:avLst/>
              </a:prstGeom>
              <a:solidFill>
                <a:srgbClr val="00B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4" name="矩形 43">
                <a:extLst>
                  <a:ext uri="{FF2B5EF4-FFF2-40B4-BE49-F238E27FC236}">
                    <a16:creationId xmlns:a16="http://schemas.microsoft.com/office/drawing/2014/main" id="{ED3716C8-CA0D-4806-A013-3F0E791C886C}"/>
                  </a:ext>
                </a:extLst>
              </p:cNvPr>
              <p:cNvSpPr/>
              <p:nvPr/>
            </p:nvSpPr>
            <p:spPr>
              <a:xfrm>
                <a:off x="6950421" y="5256671"/>
                <a:ext cx="317500" cy="317500"/>
              </a:xfrm>
              <a:prstGeom prst="rect">
                <a:avLst/>
              </a:prstGeom>
              <a:solidFill>
                <a:srgbClr val="FFA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5" name="矩形 44">
                <a:extLst>
                  <a:ext uri="{FF2B5EF4-FFF2-40B4-BE49-F238E27FC236}">
                    <a16:creationId xmlns:a16="http://schemas.microsoft.com/office/drawing/2014/main" id="{EB57F906-7144-4062-914D-703110CC17BF}"/>
                  </a:ext>
                </a:extLst>
              </p:cNvPr>
              <p:cNvSpPr/>
              <p:nvPr/>
            </p:nvSpPr>
            <p:spPr>
              <a:xfrm>
                <a:off x="3443337" y="5256671"/>
                <a:ext cx="317500" cy="317500"/>
              </a:xfrm>
              <a:prstGeom prst="rect">
                <a:avLst/>
              </a:prstGeom>
              <a:solidFill>
                <a:srgbClr val="0028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6" name="矩形 45">
                <a:extLst>
                  <a:ext uri="{FF2B5EF4-FFF2-40B4-BE49-F238E27FC236}">
                    <a16:creationId xmlns:a16="http://schemas.microsoft.com/office/drawing/2014/main" id="{09D68DFB-0813-4C3A-8CE7-03C842C11ED7}"/>
                  </a:ext>
                </a:extLst>
              </p:cNvPr>
              <p:cNvSpPr/>
              <p:nvPr/>
            </p:nvSpPr>
            <p:spPr>
              <a:xfrm>
                <a:off x="5948397" y="5256671"/>
                <a:ext cx="317500" cy="317500"/>
              </a:xfrm>
              <a:prstGeom prst="rect">
                <a:avLst/>
              </a:prstGeom>
              <a:solidFill>
                <a:srgbClr val="0082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矩形 46">
                <a:extLst>
                  <a:ext uri="{FF2B5EF4-FFF2-40B4-BE49-F238E27FC236}">
                    <a16:creationId xmlns:a16="http://schemas.microsoft.com/office/drawing/2014/main" id="{AE8DE291-898F-4470-A37E-2D3C217EDD29}"/>
                  </a:ext>
                </a:extLst>
              </p:cNvPr>
              <p:cNvSpPr/>
              <p:nvPr/>
            </p:nvSpPr>
            <p:spPr>
              <a:xfrm>
                <a:off x="7451436" y="5256671"/>
                <a:ext cx="317500" cy="317500"/>
              </a:xfrm>
              <a:prstGeom prst="rect">
                <a:avLst/>
              </a:prstGeom>
              <a:solidFill>
                <a:srgbClr val="C88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矩形 47">
                <a:extLst>
                  <a:ext uri="{FF2B5EF4-FFF2-40B4-BE49-F238E27FC236}">
                    <a16:creationId xmlns:a16="http://schemas.microsoft.com/office/drawing/2014/main" id="{37A1C886-D4A7-40F8-BEDF-DE906366403B}"/>
                  </a:ext>
                </a:extLst>
              </p:cNvPr>
              <p:cNvSpPr/>
              <p:nvPr userDrawn="1"/>
            </p:nvSpPr>
            <p:spPr>
              <a:xfrm>
                <a:off x="2441313" y="5256671"/>
                <a:ext cx="317500" cy="317500"/>
              </a:xfrm>
              <a:prstGeom prst="rect">
                <a:avLst/>
              </a:prstGeom>
              <a:solidFill>
                <a:srgbClr val="BEE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grpSp>
      <p:sp>
        <p:nvSpPr>
          <p:cNvPr id="22" name="標題 1">
            <a:extLst>
              <a:ext uri="{FF2B5EF4-FFF2-40B4-BE49-F238E27FC236}">
                <a16:creationId xmlns:a16="http://schemas.microsoft.com/office/drawing/2014/main" id="{9FF8E5F9-3E27-4FB9-9E7F-AA69CBB722EF}"/>
              </a:ext>
            </a:extLst>
          </p:cNvPr>
          <p:cNvSpPr txBox="1">
            <a:spLocks/>
          </p:cNvSpPr>
          <p:nvPr userDrawn="1"/>
        </p:nvSpPr>
        <p:spPr>
          <a:xfrm>
            <a:off x="376089" y="5152426"/>
            <a:ext cx="9144000" cy="1212111"/>
          </a:xfrm>
          <a:prstGeom prst="rect">
            <a:avLst/>
          </a:prstGeom>
        </p:spPr>
        <p:txBody>
          <a:bodyPr/>
          <a:lst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a:lstStyle>
          <a:p>
            <a:pPr algn="l"/>
            <a:r>
              <a:rPr lang="en-US" altLang="zh-TW" sz="4400" b="0" dirty="0">
                <a:solidFill>
                  <a:schemeClr val="tx1"/>
                </a:solidFill>
                <a:latin typeface="+mn-lt"/>
              </a:rPr>
              <a:t>Smarter. Greener. Together. </a:t>
            </a:r>
            <a:br>
              <a:rPr lang="en-US" altLang="zh-TW" sz="4400" b="0" dirty="0">
                <a:solidFill>
                  <a:schemeClr val="tx1"/>
                </a:solidFill>
                <a:latin typeface="+mn-lt"/>
              </a:rPr>
            </a:br>
            <a:endParaRPr lang="en-US" sz="4400" b="0" dirty="0">
              <a:solidFill>
                <a:schemeClr val="tx1"/>
              </a:solidFill>
              <a:latin typeface="+mn-lt"/>
            </a:endParaRPr>
          </a:p>
        </p:txBody>
      </p:sp>
      <p:pic>
        <p:nvPicPr>
          <p:cNvPr id="23" name="圖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75101" y="5475968"/>
            <a:ext cx="2814118" cy="1276115"/>
          </a:xfrm>
          <a:prstGeom prst="rect">
            <a:avLst/>
          </a:prstGeom>
        </p:spPr>
      </p:pic>
      <p:sp>
        <p:nvSpPr>
          <p:cNvPr id="55" name="圖片版面配置區 6">
            <a:extLst>
              <a:ext uri="{FF2B5EF4-FFF2-40B4-BE49-F238E27FC236}">
                <a16:creationId xmlns:a16="http://schemas.microsoft.com/office/drawing/2014/main" id="{BEC39B5C-7A19-45E5-87B6-A4D4ACE91330}"/>
              </a:ext>
            </a:extLst>
          </p:cNvPr>
          <p:cNvSpPr>
            <a:spLocks noGrp="1"/>
          </p:cNvSpPr>
          <p:nvPr>
            <p:ph type="pic" sz="quarter" idx="11" hasCustomPrompt="1"/>
          </p:nvPr>
        </p:nvSpPr>
        <p:spPr>
          <a:xfrm>
            <a:off x="-1588" y="-12701"/>
            <a:ext cx="12192001" cy="4713938"/>
          </a:xfrm>
        </p:spPr>
        <p:txBody>
          <a:bodyPr/>
          <a:lstStyle>
            <a:lvl1pPr marL="0" indent="0">
              <a:lnSpc>
                <a:spcPct val="100000"/>
              </a:lnSpc>
              <a:buNone/>
              <a:defRPr sz="1600">
                <a:solidFill>
                  <a:srgbClr val="0070C0"/>
                </a:solidFill>
              </a:defRPr>
            </a:lvl1pPr>
          </a:lstStyle>
          <a:p>
            <a:r>
              <a:rPr lang="en-US" altLang="zh-TW" dirty="0"/>
              <a:t>     Ending </a:t>
            </a:r>
            <a:r>
              <a:rPr lang="en-US" altLang="zh-TW" dirty="0" err="1"/>
              <a:t>Page_Image</a:t>
            </a:r>
            <a:r>
              <a:rPr lang="en-US" altLang="zh-TW" dirty="0"/>
              <a:t>: </a:t>
            </a:r>
            <a:br>
              <a:rPr lang="en-US" altLang="zh-TW" dirty="0"/>
            </a:br>
            <a:r>
              <a:rPr lang="en-US" altLang="zh-TW" dirty="0"/>
              <a:t>      A corporate-level, sector-level or product-level brand communication imagery can be applied in this gray area.</a:t>
            </a:r>
          </a:p>
          <a:p>
            <a:endParaRPr lang="zh-TW" altLang="en-US" dirty="0"/>
          </a:p>
        </p:txBody>
      </p:sp>
      <p:grpSp>
        <p:nvGrpSpPr>
          <p:cNvPr id="5" name="群組 4"/>
          <p:cNvGrpSpPr/>
          <p:nvPr userDrawn="1"/>
        </p:nvGrpSpPr>
        <p:grpSpPr>
          <a:xfrm>
            <a:off x="-1200" y="4701237"/>
            <a:ext cx="12193200" cy="144000"/>
            <a:chOff x="22799" y="4912990"/>
            <a:chExt cx="12193200" cy="144000"/>
          </a:xfrm>
        </p:grpSpPr>
        <p:sp>
          <p:nvSpPr>
            <p:cNvPr id="2" name="矩形 1"/>
            <p:cNvSpPr/>
            <p:nvPr userDrawn="1"/>
          </p:nvSpPr>
          <p:spPr>
            <a:xfrm>
              <a:off x="22799" y="4912990"/>
              <a:ext cx="121932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userDrawn="1"/>
          </p:nvSpPr>
          <p:spPr>
            <a:xfrm>
              <a:off x="9767999" y="4912990"/>
              <a:ext cx="2448000" cy="144000"/>
            </a:xfrm>
            <a:prstGeom prst="rect">
              <a:avLst/>
            </a:prstGeom>
            <a:solidFill>
              <a:srgbClr val="B9EB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7323672" y="4912990"/>
              <a:ext cx="2448000" cy="144000"/>
            </a:xfrm>
            <a:prstGeom prst="rect">
              <a:avLst/>
            </a:prstGeom>
            <a:solidFill>
              <a:srgbClr val="64D7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100561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584B288-D41F-4145-A1C0-E0281E1E2461}"/>
              </a:ext>
            </a:extLst>
          </p:cNvPr>
          <p:cNvSpPr>
            <a:spLocks noGrp="1"/>
          </p:cNvSpPr>
          <p:nvPr>
            <p:ph type="title"/>
          </p:nvPr>
        </p:nvSpPr>
        <p:spPr>
          <a:xfrm>
            <a:off x="406400" y="440356"/>
            <a:ext cx="11379200" cy="679396"/>
          </a:xfrm>
          <a:prstGeom prst="rect">
            <a:avLst/>
          </a:prstGeom>
        </p:spPr>
        <p:txBody>
          <a:bodyPr vert="horz" lIns="0" tIns="45720" rIns="0" bIns="45720" rtlCol="0" anchor="t">
            <a:normAutofit/>
          </a:bodyPr>
          <a:lstStyle/>
          <a:p>
            <a:r>
              <a:rPr lang="en-US" altLang="zh-TW" dirty="0"/>
              <a:t>Page Title Goes Here (32pt)</a:t>
            </a:r>
            <a:endParaRPr lang="en-US" dirty="0"/>
          </a:p>
        </p:txBody>
      </p:sp>
      <p:sp>
        <p:nvSpPr>
          <p:cNvPr id="3" name="文字版面配置區 2">
            <a:extLst>
              <a:ext uri="{FF2B5EF4-FFF2-40B4-BE49-F238E27FC236}">
                <a16:creationId xmlns:a16="http://schemas.microsoft.com/office/drawing/2014/main" id="{23BE7FFB-6DD4-4C49-91B1-9DC75DF6EC07}"/>
              </a:ext>
            </a:extLst>
          </p:cNvPr>
          <p:cNvSpPr>
            <a:spLocks noGrp="1"/>
          </p:cNvSpPr>
          <p:nvPr>
            <p:ph type="body" idx="1"/>
          </p:nvPr>
        </p:nvSpPr>
        <p:spPr>
          <a:xfrm>
            <a:off x="406400" y="1170462"/>
            <a:ext cx="11379200" cy="4669631"/>
          </a:xfrm>
          <a:prstGeom prst="rect">
            <a:avLst/>
          </a:prstGeom>
        </p:spPr>
        <p:txBody>
          <a:bodyPr vert="horz" lIns="0" tIns="45720" rIns="0" bIns="45720" rtlCol="0">
            <a:normAutofit/>
          </a:bodyPr>
          <a:lstStyle/>
          <a:p>
            <a:pPr lvl="0"/>
            <a:r>
              <a:rPr lang="en-US" altLang="zh-TW" dirty="0"/>
              <a:t>Content goes here (24pt)</a:t>
            </a:r>
            <a:endParaRPr lang="en-US" dirty="0"/>
          </a:p>
        </p:txBody>
      </p:sp>
      <p:sp>
        <p:nvSpPr>
          <p:cNvPr id="4" name="日期版面配置區 3">
            <a:extLst>
              <a:ext uri="{FF2B5EF4-FFF2-40B4-BE49-F238E27FC236}">
                <a16:creationId xmlns:a16="http://schemas.microsoft.com/office/drawing/2014/main" id="{1BBD7ECA-A67F-4BFF-9619-0DDD6E5A9229}"/>
              </a:ext>
            </a:extLst>
          </p:cNvPr>
          <p:cNvSpPr>
            <a:spLocks noGrp="1"/>
          </p:cNvSpPr>
          <p:nvPr>
            <p:ph type="dt" sz="half" idx="2"/>
          </p:nvPr>
        </p:nvSpPr>
        <p:spPr>
          <a:xfrm>
            <a:off x="6096000" y="6176267"/>
            <a:ext cx="2743200" cy="422101"/>
          </a:xfrm>
          <a:prstGeom prst="rect">
            <a:avLst/>
          </a:prstGeom>
        </p:spPr>
        <p:txBody>
          <a:bodyPr vert="horz" lIns="91440" tIns="45720" rIns="91440" bIns="45720" rtlCol="0" anchor="ctr"/>
          <a:lstStyle>
            <a:lvl1pPr algn="l">
              <a:defRPr sz="1200">
                <a:solidFill>
                  <a:schemeClr val="tx1"/>
                </a:solidFill>
              </a:defRPr>
            </a:lvl1pPr>
          </a:lstStyle>
          <a:p>
            <a:r>
              <a:rPr lang="en-US" dirty="0"/>
              <a:t>MM/DD/YYYY</a:t>
            </a:r>
          </a:p>
        </p:txBody>
      </p:sp>
      <p:sp>
        <p:nvSpPr>
          <p:cNvPr id="5" name="頁尾版面配置區 4">
            <a:extLst>
              <a:ext uri="{FF2B5EF4-FFF2-40B4-BE49-F238E27FC236}">
                <a16:creationId xmlns:a16="http://schemas.microsoft.com/office/drawing/2014/main" id="{989C03B7-7699-4072-AC6D-A339A44A7047}"/>
              </a:ext>
            </a:extLst>
          </p:cNvPr>
          <p:cNvSpPr>
            <a:spLocks noGrp="1"/>
          </p:cNvSpPr>
          <p:nvPr>
            <p:ph type="ftr" sz="quarter" idx="3"/>
          </p:nvPr>
        </p:nvSpPr>
        <p:spPr>
          <a:xfrm>
            <a:off x="843611" y="6191967"/>
            <a:ext cx="4114800" cy="437428"/>
          </a:xfrm>
          <a:prstGeom prst="rect">
            <a:avLst/>
          </a:prstGeom>
        </p:spPr>
        <p:txBody>
          <a:bodyPr vert="horz" lIns="91440" tIns="45720" rIns="91440" bIns="45720" rtlCol="0" anchor="ctr"/>
          <a:lstStyle>
            <a:lvl1pPr algn="l">
              <a:defRPr sz="1200" u="none">
                <a:solidFill>
                  <a:schemeClr val="tx1"/>
                </a:solidFill>
              </a:defRPr>
            </a:lvl1pPr>
          </a:lstStyle>
          <a:p>
            <a:r>
              <a:rPr lang="en-US" dirty="0"/>
              <a:t>Presenter Name</a:t>
            </a:r>
          </a:p>
        </p:txBody>
      </p:sp>
      <p:sp>
        <p:nvSpPr>
          <p:cNvPr id="6" name="投影片編號版面配置區 5">
            <a:extLst>
              <a:ext uri="{FF2B5EF4-FFF2-40B4-BE49-F238E27FC236}">
                <a16:creationId xmlns:a16="http://schemas.microsoft.com/office/drawing/2014/main" id="{9AC81264-E3A8-4919-AA46-612C30BB1B99}"/>
              </a:ext>
            </a:extLst>
          </p:cNvPr>
          <p:cNvSpPr>
            <a:spLocks noGrp="1"/>
          </p:cNvSpPr>
          <p:nvPr>
            <p:ph type="sldNum" sz="quarter" idx="4"/>
          </p:nvPr>
        </p:nvSpPr>
        <p:spPr>
          <a:xfrm>
            <a:off x="406402" y="6191968"/>
            <a:ext cx="401121" cy="422589"/>
          </a:xfrm>
          <a:prstGeom prst="rect">
            <a:avLst/>
          </a:prstGeom>
        </p:spPr>
        <p:txBody>
          <a:bodyPr vert="horz" lIns="91440" tIns="45720" rIns="91440" bIns="45720" rtlCol="0" anchor="ctr"/>
          <a:lstStyle>
            <a:lvl1pPr algn="l">
              <a:defRPr sz="1200">
                <a:solidFill>
                  <a:schemeClr val="tx1"/>
                </a:solidFill>
              </a:defRPr>
            </a:lvl1pPr>
          </a:lstStyle>
          <a:p>
            <a:fld id="{81BD21A8-5E88-4AE4-993C-2D76760CAD3D}" type="slidenum">
              <a:rPr lang="en-US" smtClean="0"/>
              <a:pPr/>
              <a:t>‹#›</a:t>
            </a:fld>
            <a:endParaRPr lang="en-US"/>
          </a:p>
        </p:txBody>
      </p:sp>
    </p:spTree>
    <p:extLst>
      <p:ext uri="{BB962C8B-B14F-4D97-AF65-F5344CB8AC3E}">
        <p14:creationId xmlns:p14="http://schemas.microsoft.com/office/powerpoint/2010/main" val="2100293352"/>
      </p:ext>
    </p:extLst>
  </p:cSld>
  <p:clrMap bg1="lt1" tx1="dk1" bg2="lt2" tx2="dk2" accent1="accent1" accent2="accent2" accent3="accent3" accent4="accent4" accent5="accent5" accent6="accent6" hlink="hlink" folHlink="folHlink"/>
  <p:sldLayoutIdLst>
    <p:sldLayoutId id="2147483735" r:id="rId1"/>
    <p:sldLayoutId id="2147483742" r:id="rId2"/>
    <p:sldLayoutId id="2147483741" r:id="rId3"/>
    <p:sldLayoutId id="2147483737" r:id="rId4"/>
    <p:sldLayoutId id="2147483738" r:id="rId5"/>
    <p:sldLayoutId id="2147483740" r:id="rId6"/>
    <p:sldLayoutId id="2147483739" r:id="rId7"/>
  </p:sldLayoutIdLst>
  <p:hf hdr="0"/>
  <p:txStyles>
    <p:titleStyle>
      <a:lvl1pPr algn="ctr" defTabSz="914377" rtl="0" eaLnBrk="1" latinLnBrk="0" hangingPunct="1">
        <a:lnSpc>
          <a:spcPct val="90000"/>
        </a:lnSpc>
        <a:spcBef>
          <a:spcPct val="0"/>
        </a:spcBef>
        <a:buNone/>
        <a:defRPr sz="3200" b="1" kern="1200">
          <a:solidFill>
            <a:schemeClr val="tx2"/>
          </a:solidFill>
          <a:latin typeface="+mj-lt"/>
          <a:ea typeface="+mj-ea"/>
          <a:cs typeface="+mj-cs"/>
        </a:defRPr>
      </a:lvl1pPr>
    </p:titleStyle>
    <p:bodyStyle>
      <a:lvl1pPr marL="228594" indent="-228594" algn="l" defTabSz="914377" rtl="0" eaLnBrk="1" latinLnBrk="0" hangingPunct="1">
        <a:lnSpc>
          <a:spcPct val="90000"/>
        </a:lnSpc>
        <a:spcBef>
          <a:spcPts val="1000"/>
        </a:spcBef>
        <a:buClr>
          <a:schemeClr val="tx2"/>
        </a:buClr>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eltao365.sharepoint.com/:w:/r/sites/OCF2/_layouts/15/Doc2.aspx?action=edit&amp;sourcedoc=%7B404803b7-1634-4e21-b34a-273ee23042c4%7D&amp;wdOrigin=TEAMS-MAGLEV.teamsSdk_ns.rwc&amp;wdExp=TEAMS-TREATMENT&amp;wdhostclicktime=1713314523667&amp;web=1"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eltao365.sharepoint.com/:w:/r/sites/OCF2/_layouts/15/Doc2.aspx?action=edit&amp;sourcedoc=%7B9572a3af-f6b3-43de-8c5f-55a6d6c74235%7D&amp;wdOrigin=TEAMS-MAGLEV.teamsSdk_ns.rwc&amp;wdExp=TEAMS-TREATMENT&amp;wdhostclicktime=1713314912946&amp;web=1" TargetMode="Externa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hyperlink" Target="https://deltao365.sharepoint.com/:w:/r/sites/OCF2/_layouts/15/Doc2.aspx?action=edit&amp;sourcedoc=%7B06ed5acc-fc8f-4f78-81aa-1897fc6bca9b%7D&amp;wdOrigin=TEAMS-MAGLEV.teamsSdk_ns.rwc&amp;wdExp=TEAMS-TREATMENT&amp;wdhostclicktime=1713318786155&amp;web=1"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deltao365.sharepoint.com/:w:/r/sites/OCF2/_layouts/15/Doc2.aspx?action=edit&amp;sourcedoc=%7B0a587c69-2c5a-4749-b6f4-7c1bcb92ca92%7D&amp;wdOrigin=TEAMS-MAGLEV.teamsSdk_ns.rwc&amp;wdExp=TEAMS-TREATMENT&amp;wdhostclicktime=1713318671688&amp;web=1" TargetMode="External"/><Relationship Id="rId7" Type="http://schemas.openxmlformats.org/officeDocument/2006/relationships/hyperlink" Target="https://deltao365.sharepoint.com/:w:/r/sites/OCF2/_layouts/15/Doc2.aspx?action=edit&amp;sourcedoc=%7Bde9fe47c-b59b-4781-aaf7-92e754114d57%7D&amp;wdOrigin=TEAMS-MAGLEV.teamsSdk_ns.rwc&amp;wdExp=TEAMS-TREATMENT&amp;wdhostclicktime=1713319159646&amp;web=1" TargetMode="External"/><Relationship Id="rId2" Type="http://schemas.openxmlformats.org/officeDocument/2006/relationships/hyperlink" Target="https://deltao365.sharepoint.com/:w:/r/sites/OCF2/_layouts/15/Doc2.aspx?action=edit&amp;sourcedoc=%7B5ca47f7b-fce2-4a8c-b3af-9cc7fbf47613%7D&amp;wdOrigin=TEAMS-MAGLEV.teamsSdk_ns.rwc&amp;wdExp=TEAMS-TREATMENT&amp;wdhostclicktime=1713318635156&amp;web=1" TargetMode="External"/><Relationship Id="rId1" Type="http://schemas.openxmlformats.org/officeDocument/2006/relationships/slideLayout" Target="../slideLayouts/slideLayout4.xml"/><Relationship Id="rId6" Type="http://schemas.openxmlformats.org/officeDocument/2006/relationships/hyperlink" Target="https://deltao365.sharepoint.com/:w:/r/sites/OCF2/_layouts/15/Doc2.aspx?action=edit&amp;sourcedoc=%7Bdadd2b75-a65c-4d74-9256-563e14cb3586%7D&amp;wdOrigin=TEAMS-MAGLEV.teamsSdk_ns.rwc&amp;wdExp=TEAMS-TREATMENT&amp;wdhostclicktime=1713319131505&amp;web=1" TargetMode="External"/><Relationship Id="rId5" Type="http://schemas.openxmlformats.org/officeDocument/2006/relationships/hyperlink" Target="https://deltao365.sharepoint.com/:w:/r/sites/OCF2/_layouts/15/Doc2.aspx?action=edit&amp;sourcedoc=%7B1c05d5f1-9627-4781-8321-1211c5a7a3ac%7D&amp;wdOrigin=TEAMS-MAGLEV.teamsSdk_ns.rwc&amp;wdExp=TEAMS-TREATMENT&amp;wdhostclicktime=1713318782725&amp;web=1" TargetMode="External"/><Relationship Id="rId4" Type="http://schemas.openxmlformats.org/officeDocument/2006/relationships/hyperlink" Target="https://deltao365.sharepoint.com/:w:/r/sites/OCF2/_layouts/15/Doc2.aspx?action=edit&amp;sourcedoc=%7B94730dea-3a7a-4340-b063-66b966248a80%7D&amp;wdOrigin=TEAMS-MAGLEV.teamsSdk_ns.rwc&amp;wdExp=TEAMS-TREATMENT&amp;wdhostclicktime=1713318748021&amp;web=1"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deltao365.sharepoint.com/:w:/r/sites/OCF2/_layouts/15/Doc2.aspx?action=edit&amp;sourcedoc=%7Bb467f5fa-fc99-434e-81f5-40e295ae690c%7D&amp;wdOrigin=TEAMS-MAGLEV.teamsSdk_ns.rwc&amp;wdExp=TEAMS-TREATMENT&amp;wdhostclicktime=1713495399272&amp;web=1" TargetMode="Externa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deltao365.sharepoint.com/:w:/r/sites/OCF2/_layouts/15/Doc2.aspx?action=edit&amp;sourcedoc=%7Bc095a87f-ec13-462c-90b9-69932652b155%7D&amp;wdOrigin=TEAMS-MAGLEV.teamsSdk_ns.rwc&amp;wdExp=TEAMS-TREATMENT&amp;wdhostclicktime=1713495981688&amp;web=1" TargetMode="Externa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hyperlink" Target="https://deltao365.sharepoint.com/:p:/r/sites/OCF2/_layouts/15/Doc2.aspx?action=edit&amp;sourcedoc=%7Bb221a162-c31f-4564-a9e7-9b35b22eae4e%7D&amp;wdOrigin=TEAMS-MAGLEV.teamsSdk_ns.rwc&amp;wdExp=TEAMS-TREATMENT&amp;wdhostclicktime=1713332509498&amp;web=1"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3"/>
          <p:cNvSpPr>
            <a:spLocks noGrp="1"/>
          </p:cNvSpPr>
          <p:nvPr>
            <p:ph type="ftr" sz="quarter" idx="3"/>
          </p:nvPr>
        </p:nvSpPr>
        <p:spPr/>
        <p:txBody>
          <a:bodyPr/>
          <a:lstStyle/>
          <a:p>
            <a:r>
              <a:rPr lang="en-US" altLang="zh-TW" sz="1800" dirty="0"/>
              <a:t>Ricky Lee</a:t>
            </a:r>
            <a:r>
              <a:rPr lang="zh-TW" altLang="en-US" sz="1800" dirty="0"/>
              <a:t>｜</a:t>
            </a:r>
            <a:r>
              <a:rPr lang="en-US" altLang="zh-TW" sz="1800" dirty="0"/>
              <a:t>04/19/2024</a:t>
            </a:r>
          </a:p>
        </p:txBody>
      </p:sp>
      <p:sp>
        <p:nvSpPr>
          <p:cNvPr id="5" name="標題 1">
            <a:extLst>
              <a:ext uri="{FF2B5EF4-FFF2-40B4-BE49-F238E27FC236}">
                <a16:creationId xmlns:a16="http://schemas.microsoft.com/office/drawing/2014/main" id="{4D9E8D4D-0250-4F2E-9283-56208C1A98F6}"/>
              </a:ext>
            </a:extLst>
          </p:cNvPr>
          <p:cNvSpPr>
            <a:spLocks noGrp="1"/>
          </p:cNvSpPr>
          <p:nvPr>
            <p:ph type="ctrTitle"/>
          </p:nvPr>
        </p:nvSpPr>
        <p:spPr>
          <a:xfrm>
            <a:off x="896647" y="1118615"/>
            <a:ext cx="9144000" cy="1864899"/>
          </a:xfrm>
        </p:spPr>
        <p:txBody>
          <a:bodyPr>
            <a:normAutofit/>
          </a:bodyPr>
          <a:lstStyle/>
          <a:p>
            <a:r>
              <a:rPr lang="en-US" sz="4600" dirty="0"/>
              <a:t>OCF </a:t>
            </a:r>
            <a:r>
              <a:rPr lang="zh-TW" altLang="en-US" sz="4600" dirty="0"/>
              <a:t>後端交接</a:t>
            </a:r>
            <a:endParaRPr lang="en-US" sz="4600" dirty="0"/>
          </a:p>
        </p:txBody>
      </p:sp>
      <p:sp>
        <p:nvSpPr>
          <p:cNvPr id="6" name="副標題 2">
            <a:extLst>
              <a:ext uri="{FF2B5EF4-FFF2-40B4-BE49-F238E27FC236}">
                <a16:creationId xmlns:a16="http://schemas.microsoft.com/office/drawing/2014/main" id="{76514E5B-9CF7-4E44-8735-E1885DB8F2BC}"/>
              </a:ext>
            </a:extLst>
          </p:cNvPr>
          <p:cNvSpPr>
            <a:spLocks noGrp="1"/>
          </p:cNvSpPr>
          <p:nvPr>
            <p:ph type="subTitle" idx="1"/>
          </p:nvPr>
        </p:nvSpPr>
        <p:spPr>
          <a:xfrm>
            <a:off x="896647" y="3015629"/>
            <a:ext cx="9144000" cy="1370104"/>
          </a:xfrm>
        </p:spPr>
        <p:txBody>
          <a:bodyPr>
            <a:normAutofit/>
          </a:bodyPr>
          <a:lstStyle/>
          <a:p>
            <a:r>
              <a:rPr lang="en-US" altLang="zh-TW" sz="3000" dirty="0"/>
              <a:t>Presentation Subtitle Goes Here</a:t>
            </a:r>
            <a:br>
              <a:rPr lang="en-US" altLang="zh-TW" sz="3000" dirty="0"/>
            </a:br>
            <a:r>
              <a:rPr lang="en-US" altLang="zh-TW" sz="3000" dirty="0"/>
              <a:t>Maximum 2 Lines (24-32pt)</a:t>
            </a:r>
            <a:endParaRPr lang="en-US" sz="3000" dirty="0"/>
          </a:p>
        </p:txBody>
      </p:sp>
      <p:sp>
        <p:nvSpPr>
          <p:cNvPr id="8" name="文字方塊 7">
            <a:extLst>
              <a:ext uri="{FF2B5EF4-FFF2-40B4-BE49-F238E27FC236}">
                <a16:creationId xmlns:a16="http://schemas.microsoft.com/office/drawing/2014/main" id="{723DE7E3-D357-46D5-9257-0CF6965939A3}"/>
              </a:ext>
            </a:extLst>
          </p:cNvPr>
          <p:cNvSpPr txBox="1"/>
          <p:nvPr/>
        </p:nvSpPr>
        <p:spPr>
          <a:xfrm>
            <a:off x="7040132" y="3153697"/>
            <a:ext cx="4237468" cy="1323439"/>
          </a:xfrm>
          <a:prstGeom prst="rect">
            <a:avLst/>
          </a:prstGeom>
          <a:solidFill>
            <a:schemeClr val="bg2">
              <a:lumMod val="95000"/>
            </a:schemeClr>
          </a:solidFill>
          <a:ln>
            <a:solidFill>
              <a:schemeClr val="tx2"/>
            </a:solidFill>
          </a:ln>
        </p:spPr>
        <p:txBody>
          <a:bodyPr wrap="square" rtlCol="0">
            <a:spAutoFit/>
          </a:bodyPr>
          <a:lstStyle/>
          <a:p>
            <a:r>
              <a:rPr lang="en-US" sz="1600" dirty="0"/>
              <a:t>Note:</a:t>
            </a:r>
          </a:p>
          <a:p>
            <a:pPr marL="304792" indent="-304792">
              <a:buFont typeface="+mj-lt"/>
              <a:buAutoNum type="arabicPeriod"/>
            </a:pPr>
            <a:r>
              <a:rPr lang="en-US" sz="1600" dirty="0"/>
              <a:t>Select a cover from 2 versions </a:t>
            </a:r>
            <a:br>
              <a:rPr lang="en-US" sz="1600" dirty="0"/>
            </a:br>
            <a:r>
              <a:rPr lang="en-US" sz="1600" dirty="0"/>
              <a:t>(white or image background)</a:t>
            </a:r>
          </a:p>
          <a:p>
            <a:pPr marL="304792" indent="-304792">
              <a:buFont typeface="+mj-lt"/>
              <a:buAutoNum type="arabicPeriod"/>
            </a:pPr>
            <a:r>
              <a:rPr lang="en-US" sz="1600" dirty="0"/>
              <a:t>Use Arial as English font, </a:t>
            </a:r>
            <a:br>
              <a:rPr lang="en-US" sz="1600" dirty="0"/>
            </a:br>
            <a:r>
              <a:rPr lang="en-US" sz="1600" dirty="0"/>
              <a:t>and </a:t>
            </a:r>
            <a:r>
              <a:rPr lang="zh-TW" altLang="en-US" sz="1600" dirty="0">
                <a:latin typeface="+mj-ea"/>
                <a:ea typeface="+mj-ea"/>
              </a:rPr>
              <a:t>微軟正黑</a:t>
            </a:r>
            <a:r>
              <a:rPr lang="en-US" altLang="zh-TW" sz="1600" dirty="0">
                <a:latin typeface="+mj-ea"/>
                <a:ea typeface="+mj-ea"/>
              </a:rPr>
              <a:t> </a:t>
            </a:r>
            <a:r>
              <a:rPr lang="en-US" altLang="zh-TW" sz="1600" dirty="0">
                <a:latin typeface="+mj-lt"/>
                <a:ea typeface="+mj-ea"/>
              </a:rPr>
              <a:t>as Traditional Chinese font</a:t>
            </a:r>
            <a:endParaRPr lang="en-US" altLang="zh-TW" sz="1600" dirty="0">
              <a:latin typeface="+mj-lt"/>
            </a:endParaRPr>
          </a:p>
        </p:txBody>
      </p:sp>
      <p:sp>
        <p:nvSpPr>
          <p:cNvPr id="11" name="文字版面配置區 4"/>
          <p:cNvSpPr>
            <a:spLocks noGrp="1"/>
          </p:cNvSpPr>
          <p:nvPr>
            <p:ph type="body" sz="quarter" idx="12"/>
          </p:nvPr>
        </p:nvSpPr>
        <p:spPr>
          <a:xfrm>
            <a:off x="934219" y="738191"/>
            <a:ext cx="2133446" cy="380427"/>
          </a:xfrm>
        </p:spPr>
        <p:txBody>
          <a:bodyPr/>
          <a:lstStyle/>
          <a:p>
            <a:endParaRPr lang="zh-TW" altLang="en-US" dirty="0"/>
          </a:p>
        </p:txBody>
      </p:sp>
    </p:spTree>
    <p:extLst>
      <p:ext uri="{BB962C8B-B14F-4D97-AF65-F5344CB8AC3E}">
        <p14:creationId xmlns:p14="http://schemas.microsoft.com/office/powerpoint/2010/main" val="4289649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標題 2">
            <a:extLst>
              <a:ext uri="{FF2B5EF4-FFF2-40B4-BE49-F238E27FC236}">
                <a16:creationId xmlns:a16="http://schemas.microsoft.com/office/drawing/2014/main" id="{C304C052-46D3-12B8-8286-3E4AF3FEA9BD}"/>
              </a:ext>
            </a:extLst>
          </p:cNvPr>
          <p:cNvSpPr txBox="1">
            <a:spLocks/>
          </p:cNvSpPr>
          <p:nvPr/>
        </p:nvSpPr>
        <p:spPr>
          <a:xfrm>
            <a:off x="406400" y="1170461"/>
            <a:ext cx="11379200" cy="4958877"/>
          </a:xfrm>
          <a:prstGeom prst="rect">
            <a:avLst/>
          </a:prstGeom>
        </p:spPr>
        <p:txBody>
          <a:bodyPr vert="horz" lIns="0" tIns="45720" rIns="0" bIns="45720" rtlCol="0">
            <a:noAutofit/>
          </a:bodyPr>
          <a:lstStyle>
            <a:lvl1pPr marL="228594" indent="-228594" algn="l" defTabSz="914377"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tx2"/>
              </a:buClr>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tx2"/>
              </a:buClr>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chemeClr val="accent1"/>
              </a:buClr>
            </a:pPr>
            <a:r>
              <a:rPr lang="en-US" altLang="zh-TW" sz="1800" dirty="0"/>
              <a:t>ER</a:t>
            </a:r>
            <a:r>
              <a:rPr lang="zh-TW" altLang="en-US" sz="1800" dirty="0"/>
              <a:t> </a:t>
            </a:r>
            <a:r>
              <a:rPr lang="en-US" altLang="zh-TW" sz="1800" dirty="0"/>
              <a:t>Diagram</a:t>
            </a:r>
          </a:p>
          <a:p>
            <a:pPr>
              <a:lnSpc>
                <a:spcPct val="100000"/>
              </a:lnSpc>
              <a:buClr>
                <a:schemeClr val="accent1"/>
              </a:buClr>
            </a:pPr>
            <a:r>
              <a:rPr lang="zh-TW" altLang="en-US" sz="1800" dirty="0"/>
              <a:t>帳號管理</a:t>
            </a:r>
            <a:endParaRPr lang="en-US" altLang="zh-TW" sz="1800" dirty="0"/>
          </a:p>
          <a:p>
            <a:pPr>
              <a:lnSpc>
                <a:spcPct val="100000"/>
              </a:lnSpc>
              <a:buClr>
                <a:schemeClr val="accent1"/>
              </a:buClr>
            </a:pPr>
            <a:r>
              <a:rPr lang="zh-TW" altLang="en-US" sz="1800" dirty="0"/>
              <a:t>角色管理</a:t>
            </a:r>
            <a:endParaRPr lang="en-US" altLang="zh-TW" sz="1800" dirty="0"/>
          </a:p>
          <a:p>
            <a:pPr>
              <a:lnSpc>
                <a:spcPct val="100000"/>
              </a:lnSpc>
              <a:buClr>
                <a:schemeClr val="accent1"/>
              </a:buClr>
            </a:pPr>
            <a:r>
              <a:rPr lang="zh-TW" altLang="en-US" sz="1800" dirty="0"/>
              <a:t>據點管理</a:t>
            </a:r>
            <a:endParaRPr lang="en-US" altLang="zh-TW" sz="1800" dirty="0"/>
          </a:p>
          <a:p>
            <a:pPr>
              <a:lnSpc>
                <a:spcPct val="100000"/>
              </a:lnSpc>
              <a:buClr>
                <a:schemeClr val="accent1"/>
              </a:buClr>
            </a:pPr>
            <a:r>
              <a:rPr lang="zh-TW" altLang="en-US" sz="1800" dirty="0"/>
              <a:t>公司管理</a:t>
            </a:r>
            <a:endParaRPr lang="en-US" altLang="zh-TW" sz="1800" dirty="0"/>
          </a:p>
          <a:p>
            <a:pPr>
              <a:lnSpc>
                <a:spcPct val="100000"/>
              </a:lnSpc>
              <a:buClr>
                <a:schemeClr val="accent1"/>
              </a:buClr>
            </a:pPr>
            <a:r>
              <a:rPr lang="zh-TW" altLang="en-US" sz="1800" dirty="0"/>
              <a:t>專案管理</a:t>
            </a:r>
            <a:endParaRPr lang="en-US" altLang="zh-TW" sz="1800" dirty="0"/>
          </a:p>
          <a:p>
            <a:pPr>
              <a:lnSpc>
                <a:spcPct val="100000"/>
              </a:lnSpc>
              <a:buClr>
                <a:schemeClr val="accent1"/>
              </a:buClr>
            </a:pPr>
            <a:r>
              <a:rPr lang="zh-TW" altLang="en-US" sz="1800" dirty="0"/>
              <a:t>稽核管理</a:t>
            </a:r>
            <a:endParaRPr lang="en-US" altLang="zh-TW" sz="1800" dirty="0"/>
          </a:p>
          <a:p>
            <a:pPr>
              <a:lnSpc>
                <a:spcPct val="100000"/>
              </a:lnSpc>
              <a:buClr>
                <a:schemeClr val="accent1"/>
              </a:buClr>
            </a:pPr>
            <a:r>
              <a:rPr lang="zh-TW" altLang="en-US" sz="1800" dirty="0"/>
              <a:t>係數資料庫</a:t>
            </a:r>
            <a:endParaRPr lang="en-US" altLang="zh-TW" sz="1800" dirty="0"/>
          </a:p>
          <a:p>
            <a:pPr>
              <a:lnSpc>
                <a:spcPct val="100000"/>
              </a:lnSpc>
              <a:buClr>
                <a:schemeClr val="accent1"/>
              </a:buClr>
            </a:pPr>
            <a:r>
              <a:rPr lang="zh-TW" altLang="en-US" sz="1800" dirty="0"/>
              <a:t>權限管理</a:t>
            </a:r>
            <a:endParaRPr lang="en-US" altLang="zh-TW" sz="1800" dirty="0"/>
          </a:p>
          <a:p>
            <a:pPr>
              <a:lnSpc>
                <a:spcPct val="100000"/>
              </a:lnSpc>
              <a:buClr>
                <a:schemeClr val="accent1"/>
              </a:buClr>
            </a:pPr>
            <a:r>
              <a:rPr lang="zh-TW" altLang="en-US" sz="1800" dirty="0"/>
              <a:t>排放量預計算</a:t>
            </a:r>
            <a:endParaRPr lang="en-US" altLang="zh-TW" sz="1800" dirty="0"/>
          </a:p>
          <a:p>
            <a:pPr>
              <a:lnSpc>
                <a:spcPct val="100000"/>
              </a:lnSpc>
              <a:buClr>
                <a:schemeClr val="accent1"/>
              </a:buClr>
            </a:pPr>
            <a:r>
              <a:rPr lang="zh-TW" altLang="en-US" sz="1800" dirty="0"/>
              <a:t>簽核進度預計算</a:t>
            </a:r>
            <a:endParaRPr lang="en-US" altLang="zh-TW" sz="1800" dirty="0"/>
          </a:p>
          <a:p>
            <a:pPr>
              <a:lnSpc>
                <a:spcPct val="100000"/>
              </a:lnSpc>
              <a:buClr>
                <a:schemeClr val="accent1"/>
              </a:buClr>
            </a:pPr>
            <a:r>
              <a:rPr lang="zh-TW" altLang="en-US" sz="1800" dirty="0"/>
              <a:t>操作行為記錄</a:t>
            </a:r>
            <a:endParaRPr lang="en-US" altLang="zh-TW" sz="1800" dirty="0"/>
          </a:p>
          <a:p>
            <a:pPr>
              <a:lnSpc>
                <a:spcPct val="100000"/>
              </a:lnSpc>
              <a:buClr>
                <a:schemeClr val="accent1"/>
              </a:buClr>
            </a:pPr>
            <a:r>
              <a:rPr lang="en-US" altLang="zh-TW" sz="1800" dirty="0"/>
              <a:t>Q&amp;A</a:t>
            </a:r>
          </a:p>
        </p:txBody>
      </p:sp>
      <p:sp>
        <p:nvSpPr>
          <p:cNvPr id="4" name="標題 3">
            <a:extLst>
              <a:ext uri="{FF2B5EF4-FFF2-40B4-BE49-F238E27FC236}">
                <a16:creationId xmlns:a16="http://schemas.microsoft.com/office/drawing/2014/main" id="{9840B4F1-97C0-EE4D-52A5-CEDBD903E91F}"/>
              </a:ext>
            </a:extLst>
          </p:cNvPr>
          <p:cNvSpPr>
            <a:spLocks noGrp="1"/>
          </p:cNvSpPr>
          <p:nvPr>
            <p:ph type="title"/>
          </p:nvPr>
        </p:nvSpPr>
        <p:spPr/>
        <p:txBody>
          <a:bodyPr/>
          <a:lstStyle/>
          <a:p>
            <a:r>
              <a:rPr lang="en-US" altLang="zh-TW"/>
              <a:t>Agenda</a:t>
            </a:r>
            <a:endParaRPr lang="zh-TW" altLang="en-US" dirty="0"/>
          </a:p>
        </p:txBody>
      </p:sp>
    </p:spTree>
    <p:extLst>
      <p:ext uri="{BB962C8B-B14F-4D97-AF65-F5344CB8AC3E}">
        <p14:creationId xmlns:p14="http://schemas.microsoft.com/office/powerpoint/2010/main" val="3280327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a:t>ER</a:t>
            </a:r>
            <a:r>
              <a:rPr lang="zh-TW" altLang="en-US" dirty="0"/>
              <a:t> </a:t>
            </a:r>
            <a:r>
              <a:rPr lang="en-US" altLang="zh-TW" dirty="0"/>
              <a:t>Diagram</a:t>
            </a:r>
            <a:endParaRPr lang="zh-TW" altLang="en-US" dirty="0"/>
          </a:p>
        </p:txBody>
      </p:sp>
    </p:spTree>
    <p:extLst>
      <p:ext uri="{BB962C8B-B14F-4D97-AF65-F5344CB8AC3E}">
        <p14:creationId xmlns:p14="http://schemas.microsoft.com/office/powerpoint/2010/main" val="1489056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25DC798-CDCB-3E82-781A-F5FEC5616535}"/>
              </a:ext>
            </a:extLst>
          </p:cNvPr>
          <p:cNvSpPr>
            <a:spLocks noGrp="1"/>
          </p:cNvSpPr>
          <p:nvPr>
            <p:ph type="title"/>
          </p:nvPr>
        </p:nvSpPr>
        <p:spPr/>
        <p:txBody>
          <a:bodyPr/>
          <a:lstStyle/>
          <a:p>
            <a:r>
              <a:rPr lang="en-US" altLang="zh-TW" dirty="0"/>
              <a:t>ER</a:t>
            </a:r>
            <a:r>
              <a:rPr lang="zh-TW" altLang="en-US" dirty="0"/>
              <a:t> </a:t>
            </a:r>
            <a:r>
              <a:rPr lang="en-US" altLang="zh-TW" dirty="0"/>
              <a:t>Diagram (1/4)</a:t>
            </a:r>
            <a:endParaRPr lang="zh-TW" altLang="en-US" dirty="0"/>
          </a:p>
        </p:txBody>
      </p:sp>
      <p:pic>
        <p:nvPicPr>
          <p:cNvPr id="5" name="Picture 4" descr="A white screen with black text&#10;&#10;Description automatically generated">
            <a:extLst>
              <a:ext uri="{FF2B5EF4-FFF2-40B4-BE49-F238E27FC236}">
                <a16:creationId xmlns:a16="http://schemas.microsoft.com/office/drawing/2014/main" id="{CE6FB1E3-8097-36ED-9A41-90ED9934BD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3917" y="1052377"/>
            <a:ext cx="9344166" cy="5322813"/>
          </a:xfrm>
          <a:prstGeom prst="rect">
            <a:avLst/>
          </a:prstGeom>
        </p:spPr>
      </p:pic>
    </p:spTree>
    <p:extLst>
      <p:ext uri="{BB962C8B-B14F-4D97-AF65-F5344CB8AC3E}">
        <p14:creationId xmlns:p14="http://schemas.microsoft.com/office/powerpoint/2010/main" val="2577819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25DC798-CDCB-3E82-781A-F5FEC5616535}"/>
              </a:ext>
            </a:extLst>
          </p:cNvPr>
          <p:cNvSpPr>
            <a:spLocks noGrp="1"/>
          </p:cNvSpPr>
          <p:nvPr>
            <p:ph type="title"/>
          </p:nvPr>
        </p:nvSpPr>
        <p:spPr/>
        <p:txBody>
          <a:bodyPr/>
          <a:lstStyle/>
          <a:p>
            <a:r>
              <a:rPr lang="en-US" altLang="zh-TW" dirty="0"/>
              <a:t>ER</a:t>
            </a:r>
            <a:r>
              <a:rPr lang="zh-TW" altLang="en-US" dirty="0"/>
              <a:t> </a:t>
            </a:r>
            <a:r>
              <a:rPr lang="en-US" altLang="zh-TW" dirty="0"/>
              <a:t>Diagram (2/4)</a:t>
            </a:r>
            <a:endParaRPr lang="zh-TW" altLang="en-US" dirty="0"/>
          </a:p>
        </p:txBody>
      </p:sp>
      <p:pic>
        <p:nvPicPr>
          <p:cNvPr id="3" name="Picture 2" descr="A white sheet of paper with black text&#10;&#10;Description automatically generated">
            <a:extLst>
              <a:ext uri="{FF2B5EF4-FFF2-40B4-BE49-F238E27FC236}">
                <a16:creationId xmlns:a16="http://schemas.microsoft.com/office/drawing/2014/main" id="{B3554857-6931-1998-D205-D6CEAB0304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356" y="1052377"/>
            <a:ext cx="9991288" cy="5385891"/>
          </a:xfrm>
          <a:prstGeom prst="rect">
            <a:avLst/>
          </a:prstGeom>
        </p:spPr>
      </p:pic>
    </p:spTree>
    <p:extLst>
      <p:ext uri="{BB962C8B-B14F-4D97-AF65-F5344CB8AC3E}">
        <p14:creationId xmlns:p14="http://schemas.microsoft.com/office/powerpoint/2010/main" val="209442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25DC798-CDCB-3E82-781A-F5FEC5616535}"/>
              </a:ext>
            </a:extLst>
          </p:cNvPr>
          <p:cNvSpPr>
            <a:spLocks noGrp="1"/>
          </p:cNvSpPr>
          <p:nvPr>
            <p:ph type="title"/>
          </p:nvPr>
        </p:nvSpPr>
        <p:spPr/>
        <p:txBody>
          <a:bodyPr/>
          <a:lstStyle/>
          <a:p>
            <a:r>
              <a:rPr lang="en-US" altLang="zh-TW" dirty="0"/>
              <a:t>ER</a:t>
            </a:r>
            <a:r>
              <a:rPr lang="zh-TW" altLang="en-US" dirty="0"/>
              <a:t> </a:t>
            </a:r>
            <a:r>
              <a:rPr lang="en-US" altLang="zh-TW" dirty="0"/>
              <a:t>Diagram (3/4)</a:t>
            </a:r>
            <a:endParaRPr lang="zh-TW" altLang="en-US" dirty="0"/>
          </a:p>
        </p:txBody>
      </p:sp>
      <p:pic>
        <p:nvPicPr>
          <p:cNvPr id="5" name="Picture 4" descr="A screenshot of a computer&#10;&#10;Description automatically generated">
            <a:extLst>
              <a:ext uri="{FF2B5EF4-FFF2-40B4-BE49-F238E27FC236}">
                <a16:creationId xmlns:a16="http://schemas.microsoft.com/office/drawing/2014/main" id="{3FDE7BA3-33A1-B57A-87F4-B1F7A402D0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137" y="1138237"/>
            <a:ext cx="9991725" cy="4581525"/>
          </a:xfrm>
          <a:prstGeom prst="rect">
            <a:avLst/>
          </a:prstGeom>
        </p:spPr>
      </p:pic>
    </p:spTree>
    <p:extLst>
      <p:ext uri="{BB962C8B-B14F-4D97-AF65-F5344CB8AC3E}">
        <p14:creationId xmlns:p14="http://schemas.microsoft.com/office/powerpoint/2010/main" val="586328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725DC798-CDCB-3E82-781A-F5FEC5616535}"/>
              </a:ext>
            </a:extLst>
          </p:cNvPr>
          <p:cNvSpPr>
            <a:spLocks noGrp="1"/>
          </p:cNvSpPr>
          <p:nvPr>
            <p:ph type="title"/>
          </p:nvPr>
        </p:nvSpPr>
        <p:spPr/>
        <p:txBody>
          <a:bodyPr/>
          <a:lstStyle/>
          <a:p>
            <a:r>
              <a:rPr lang="en-US" altLang="zh-TW" dirty="0"/>
              <a:t>ER</a:t>
            </a:r>
            <a:r>
              <a:rPr lang="zh-TW" altLang="en-US" dirty="0"/>
              <a:t> </a:t>
            </a:r>
            <a:r>
              <a:rPr lang="en-US" altLang="zh-TW" dirty="0"/>
              <a:t>Diagram (4/4)</a:t>
            </a:r>
            <a:endParaRPr lang="zh-TW" altLang="en-US" dirty="0"/>
          </a:p>
        </p:txBody>
      </p:sp>
      <p:pic>
        <p:nvPicPr>
          <p:cNvPr id="5" name="Picture 4" descr="A diagram of a document&#10;&#10;Description automatically generated with medium confidence">
            <a:extLst>
              <a:ext uri="{FF2B5EF4-FFF2-40B4-BE49-F238E27FC236}">
                <a16:creationId xmlns:a16="http://schemas.microsoft.com/office/drawing/2014/main" id="{2E9253EA-7C59-DC48-5FB5-715185409F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2915" y="1044011"/>
            <a:ext cx="9286170" cy="5441008"/>
          </a:xfrm>
          <a:prstGeom prst="rect">
            <a:avLst/>
          </a:prstGeom>
        </p:spPr>
      </p:pic>
    </p:spTree>
    <p:extLst>
      <p:ext uri="{BB962C8B-B14F-4D97-AF65-F5344CB8AC3E}">
        <p14:creationId xmlns:p14="http://schemas.microsoft.com/office/powerpoint/2010/main" val="2789550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帳號管理</a:t>
            </a:r>
          </a:p>
        </p:txBody>
      </p:sp>
    </p:spTree>
    <p:extLst>
      <p:ext uri="{BB962C8B-B14F-4D97-AF65-F5344CB8AC3E}">
        <p14:creationId xmlns:p14="http://schemas.microsoft.com/office/powerpoint/2010/main" val="1503674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7B56-08D5-50BC-88F2-458B8A7B5128}"/>
              </a:ext>
            </a:extLst>
          </p:cNvPr>
          <p:cNvSpPr>
            <a:spLocks noGrp="1"/>
          </p:cNvSpPr>
          <p:nvPr>
            <p:ph type="title"/>
          </p:nvPr>
        </p:nvSpPr>
        <p:spPr>
          <a:xfrm>
            <a:off x="406400" y="372981"/>
            <a:ext cx="11379200" cy="679396"/>
          </a:xfrm>
        </p:spPr>
        <p:txBody>
          <a:bodyPr anchor="ctr">
            <a:normAutofit/>
          </a:bodyPr>
          <a:lstStyle/>
          <a:p>
            <a:r>
              <a:rPr lang="zh-TW" altLang="en-US" dirty="0"/>
              <a:t>帳號管理</a:t>
            </a:r>
          </a:p>
        </p:txBody>
      </p:sp>
      <p:sp>
        <p:nvSpPr>
          <p:cNvPr id="3" name="Content Placeholder 2">
            <a:extLst>
              <a:ext uri="{FF2B5EF4-FFF2-40B4-BE49-F238E27FC236}">
                <a16:creationId xmlns:a16="http://schemas.microsoft.com/office/drawing/2014/main" id="{B550BF6E-8A45-D7EC-A701-9045BBF8DB51}"/>
              </a:ext>
            </a:extLst>
          </p:cNvPr>
          <p:cNvSpPr>
            <a:spLocks noGrp="1"/>
          </p:cNvSpPr>
          <p:nvPr>
            <p:ph idx="1"/>
          </p:nvPr>
        </p:nvSpPr>
        <p:spPr>
          <a:xfrm>
            <a:off x="406400" y="1170462"/>
            <a:ext cx="5594350" cy="4953777"/>
          </a:xfrm>
        </p:spPr>
        <p:txBody>
          <a:bodyPr>
            <a:normAutofit/>
          </a:bodyPr>
          <a:lstStyle/>
          <a:p>
            <a:r>
              <a:rPr lang="en-US" altLang="zh-TW" dirty="0"/>
              <a:t>API</a:t>
            </a:r>
            <a:r>
              <a:rPr lang="zh-TW" altLang="en-US" dirty="0"/>
              <a:t> 接口在 </a:t>
            </a:r>
            <a:r>
              <a:rPr lang="en-US" altLang="zh-TW" dirty="0" err="1"/>
              <a:t>AuthController</a:t>
            </a:r>
            <a:endParaRPr lang="en-US" altLang="zh-TW" dirty="0"/>
          </a:p>
          <a:p>
            <a:r>
              <a:rPr lang="zh-TW" altLang="en-US" dirty="0"/>
              <a:t>使用者相關資訊皆透過 </a:t>
            </a:r>
            <a:r>
              <a:rPr lang="en-US" altLang="zh-TW" dirty="0" err="1"/>
              <a:t>dsp</a:t>
            </a:r>
            <a:r>
              <a:rPr lang="en-US" altLang="zh-TW" dirty="0"/>
              <a:t>-auth </a:t>
            </a:r>
            <a:r>
              <a:rPr lang="zh-TW" altLang="en-US" dirty="0"/>
              <a:t>取得，以 </a:t>
            </a:r>
            <a:r>
              <a:rPr lang="en-US" altLang="zh-TW" dirty="0"/>
              <a:t>Spring cloud </a:t>
            </a:r>
            <a:r>
              <a:rPr lang="en-US" altLang="zh-TW" dirty="0" err="1"/>
              <a:t>openfeign</a:t>
            </a:r>
            <a:r>
              <a:rPr lang="en-US" altLang="zh-TW" dirty="0"/>
              <a:t> </a:t>
            </a:r>
            <a:r>
              <a:rPr lang="zh-TW" altLang="en-US" dirty="0"/>
              <a:t>實作 </a:t>
            </a:r>
            <a:r>
              <a:rPr lang="en-US" altLang="zh-TW" dirty="0"/>
              <a:t>API</a:t>
            </a:r>
            <a:r>
              <a:rPr lang="zh-TW" altLang="en-US" dirty="0"/>
              <a:t> 呼叫，僅需寫類似 </a:t>
            </a:r>
            <a:r>
              <a:rPr lang="en-US" altLang="zh-TW" dirty="0"/>
              <a:t>Controller </a:t>
            </a:r>
            <a:r>
              <a:rPr lang="zh-TW" altLang="en-US" dirty="0"/>
              <a:t>的 </a:t>
            </a:r>
            <a:r>
              <a:rPr lang="en-US" altLang="zh-TW" dirty="0"/>
              <a:t>Annotation</a:t>
            </a:r>
            <a:r>
              <a:rPr lang="zh-TW" altLang="en-US" dirty="0"/>
              <a:t> 即可完成。</a:t>
            </a:r>
            <a:endParaRPr lang="en-US" altLang="zh-TW" dirty="0"/>
          </a:p>
          <a:p>
            <a:endParaRPr lang="en-US" altLang="zh-TW" dirty="0"/>
          </a:p>
          <a:p>
            <a:endParaRPr lang="zh-TW" altLang="en-US" dirty="0"/>
          </a:p>
        </p:txBody>
      </p:sp>
      <p:pic>
        <p:nvPicPr>
          <p:cNvPr id="5" name="Picture 4">
            <a:extLst>
              <a:ext uri="{FF2B5EF4-FFF2-40B4-BE49-F238E27FC236}">
                <a16:creationId xmlns:a16="http://schemas.microsoft.com/office/drawing/2014/main" id="{E8F6CA66-58E5-29B5-82C0-EA40C37C2983}"/>
              </a:ext>
            </a:extLst>
          </p:cNvPr>
          <p:cNvPicPr>
            <a:picLocks noChangeAspect="1"/>
          </p:cNvPicPr>
          <p:nvPr/>
        </p:nvPicPr>
        <p:blipFill>
          <a:blip r:embed="rId2"/>
          <a:stretch>
            <a:fillRect/>
          </a:stretch>
        </p:blipFill>
        <p:spPr>
          <a:xfrm>
            <a:off x="6191250" y="1428133"/>
            <a:ext cx="5594350" cy="3230736"/>
          </a:xfrm>
          <a:prstGeom prst="rect">
            <a:avLst/>
          </a:prstGeom>
          <a:noFill/>
        </p:spPr>
      </p:pic>
    </p:spTree>
    <p:extLst>
      <p:ext uri="{BB962C8B-B14F-4D97-AF65-F5344CB8AC3E}">
        <p14:creationId xmlns:p14="http://schemas.microsoft.com/office/powerpoint/2010/main" val="34705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角色管理</a:t>
            </a:r>
          </a:p>
        </p:txBody>
      </p:sp>
    </p:spTree>
    <p:extLst>
      <p:ext uri="{BB962C8B-B14F-4D97-AF65-F5344CB8AC3E}">
        <p14:creationId xmlns:p14="http://schemas.microsoft.com/office/powerpoint/2010/main" val="729450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D3B3-AA4D-97A1-4444-DAF22186818F}"/>
              </a:ext>
            </a:extLst>
          </p:cNvPr>
          <p:cNvSpPr>
            <a:spLocks noGrp="1"/>
          </p:cNvSpPr>
          <p:nvPr>
            <p:ph type="title"/>
          </p:nvPr>
        </p:nvSpPr>
        <p:spPr/>
        <p:txBody>
          <a:bodyPr/>
          <a:lstStyle/>
          <a:p>
            <a:r>
              <a:rPr lang="zh-TW" altLang="en-US" dirty="0"/>
              <a:t>系統角色</a:t>
            </a:r>
          </a:p>
        </p:txBody>
      </p:sp>
      <p:sp>
        <p:nvSpPr>
          <p:cNvPr id="3" name="Content Placeholder 2">
            <a:extLst>
              <a:ext uri="{FF2B5EF4-FFF2-40B4-BE49-F238E27FC236}">
                <a16:creationId xmlns:a16="http://schemas.microsoft.com/office/drawing/2014/main" id="{C0D6FC7B-167D-86D8-86F9-E25D4CF79E17}"/>
              </a:ext>
            </a:extLst>
          </p:cNvPr>
          <p:cNvSpPr>
            <a:spLocks noGrp="1"/>
          </p:cNvSpPr>
          <p:nvPr>
            <p:ph idx="1"/>
          </p:nvPr>
        </p:nvSpPr>
        <p:spPr/>
        <p:txBody>
          <a:bodyPr/>
          <a:lstStyle/>
          <a:p>
            <a:r>
              <a:rPr lang="zh-TW" altLang="en-US" dirty="0"/>
              <a:t>規格可參考 </a:t>
            </a:r>
            <a:r>
              <a:rPr lang="en-US" altLang="zh-TW" dirty="0">
                <a:hlinkClick r:id="rId2"/>
              </a:rPr>
              <a:t>20240402-</a:t>
            </a:r>
            <a:r>
              <a:rPr lang="zh-TW" altLang="en-US" dirty="0">
                <a:hlinkClick r:id="rId2"/>
              </a:rPr>
              <a:t>設計規格書</a:t>
            </a:r>
            <a:r>
              <a:rPr lang="en-US" altLang="zh-TW" dirty="0">
                <a:hlinkClick r:id="rId2"/>
              </a:rPr>
              <a:t>-Release0.3-Spring4-</a:t>
            </a:r>
            <a:r>
              <a:rPr lang="zh-TW" altLang="en-US" dirty="0">
                <a:hlinkClick r:id="rId2"/>
              </a:rPr>
              <a:t>權限管理</a:t>
            </a:r>
            <a:r>
              <a:rPr lang="en-US" altLang="zh-TW" dirty="0">
                <a:hlinkClick r:id="rId2"/>
              </a:rPr>
              <a:t>(</a:t>
            </a:r>
            <a:r>
              <a:rPr lang="zh-TW" altLang="en-US" dirty="0">
                <a:hlinkClick r:id="rId2"/>
              </a:rPr>
              <a:t>系統角色</a:t>
            </a:r>
            <a:r>
              <a:rPr lang="en-US" altLang="zh-TW" dirty="0">
                <a:hlinkClick r:id="rId2"/>
              </a:rPr>
              <a:t>).docx</a:t>
            </a:r>
            <a:endParaRPr lang="en-US" altLang="zh-TW" dirty="0"/>
          </a:p>
          <a:p>
            <a:r>
              <a:rPr lang="en-US" altLang="zh-TW" dirty="0"/>
              <a:t>API </a:t>
            </a:r>
            <a:r>
              <a:rPr lang="zh-TW" altLang="en-US" dirty="0"/>
              <a:t>接口在 </a:t>
            </a:r>
            <a:r>
              <a:rPr lang="en-US" altLang="zh-TW" dirty="0" err="1"/>
              <a:t>RoleController</a:t>
            </a:r>
            <a:endParaRPr lang="en-US" altLang="zh-TW" dirty="0"/>
          </a:p>
          <a:p>
            <a:r>
              <a:rPr lang="zh-TW" altLang="en-US" dirty="0"/>
              <a:t>相關的 </a:t>
            </a:r>
            <a:r>
              <a:rPr lang="en-US" altLang="zh-TW" dirty="0"/>
              <a:t>table </a:t>
            </a:r>
            <a:r>
              <a:rPr lang="zh-TW" altLang="en-US" dirty="0"/>
              <a:t>如圖</a:t>
            </a:r>
            <a:endParaRPr lang="en-US" altLang="zh-TW" dirty="0"/>
          </a:p>
        </p:txBody>
      </p:sp>
      <p:pic>
        <p:nvPicPr>
          <p:cNvPr id="7" name="Picture 6">
            <a:extLst>
              <a:ext uri="{FF2B5EF4-FFF2-40B4-BE49-F238E27FC236}">
                <a16:creationId xmlns:a16="http://schemas.microsoft.com/office/drawing/2014/main" id="{8DDF0583-6A7C-87B3-E6BE-164EBEC2872B}"/>
              </a:ext>
            </a:extLst>
          </p:cNvPr>
          <p:cNvPicPr>
            <a:picLocks noChangeAspect="1"/>
          </p:cNvPicPr>
          <p:nvPr/>
        </p:nvPicPr>
        <p:blipFill>
          <a:blip r:embed="rId3"/>
          <a:stretch>
            <a:fillRect/>
          </a:stretch>
        </p:blipFill>
        <p:spPr>
          <a:xfrm>
            <a:off x="659987" y="2761672"/>
            <a:ext cx="6744641" cy="2724530"/>
          </a:xfrm>
          <a:prstGeom prst="rect">
            <a:avLst/>
          </a:prstGeom>
        </p:spPr>
      </p:pic>
    </p:spTree>
    <p:extLst>
      <p:ext uri="{BB962C8B-B14F-4D97-AF65-F5344CB8AC3E}">
        <p14:creationId xmlns:p14="http://schemas.microsoft.com/office/powerpoint/2010/main" val="3205846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594D8-37FA-7DA4-1CCD-298ED04D0E41}"/>
              </a:ext>
            </a:extLst>
          </p:cNvPr>
          <p:cNvSpPr>
            <a:spLocks noGrp="1"/>
          </p:cNvSpPr>
          <p:nvPr>
            <p:ph type="title"/>
          </p:nvPr>
        </p:nvSpPr>
        <p:spPr/>
        <p:txBody>
          <a:bodyPr/>
          <a:lstStyle/>
          <a:p>
            <a:r>
              <a:rPr lang="zh-TW" altLang="en-US" dirty="0"/>
              <a:t>據點角色</a:t>
            </a:r>
          </a:p>
        </p:txBody>
      </p:sp>
      <p:sp>
        <p:nvSpPr>
          <p:cNvPr id="3" name="Content Placeholder 2">
            <a:extLst>
              <a:ext uri="{FF2B5EF4-FFF2-40B4-BE49-F238E27FC236}">
                <a16:creationId xmlns:a16="http://schemas.microsoft.com/office/drawing/2014/main" id="{8F61D791-EFBF-4D25-1216-1CA19CC5A00E}"/>
              </a:ext>
            </a:extLst>
          </p:cNvPr>
          <p:cNvSpPr>
            <a:spLocks noGrp="1"/>
          </p:cNvSpPr>
          <p:nvPr>
            <p:ph idx="1"/>
          </p:nvPr>
        </p:nvSpPr>
        <p:spPr/>
        <p:txBody>
          <a:bodyPr/>
          <a:lstStyle/>
          <a:p>
            <a:r>
              <a:rPr lang="zh-TW" altLang="en-US" dirty="0"/>
              <a:t>規格可參考</a:t>
            </a:r>
            <a:r>
              <a:rPr lang="en-US" altLang="zh-TW" dirty="0">
                <a:hlinkClick r:id="rId2"/>
              </a:rPr>
              <a:t>20240122-</a:t>
            </a:r>
            <a:r>
              <a:rPr lang="zh-TW" altLang="en-US" dirty="0">
                <a:hlinkClick r:id="rId2"/>
              </a:rPr>
              <a:t>設計規格書</a:t>
            </a:r>
            <a:r>
              <a:rPr lang="en-US" altLang="zh-TW" dirty="0">
                <a:hlinkClick r:id="rId2"/>
              </a:rPr>
              <a:t>-Release0.3-Spring2-</a:t>
            </a:r>
            <a:r>
              <a:rPr lang="zh-TW" altLang="en-US" dirty="0">
                <a:hlinkClick r:id="rId2"/>
              </a:rPr>
              <a:t>權限管理</a:t>
            </a:r>
            <a:r>
              <a:rPr lang="en-US" altLang="zh-TW" dirty="0">
                <a:hlinkClick r:id="rId2"/>
              </a:rPr>
              <a:t>.docx</a:t>
            </a:r>
            <a:endParaRPr lang="en-US" altLang="zh-TW" dirty="0"/>
          </a:p>
          <a:p>
            <a:r>
              <a:rPr lang="en-US" altLang="zh-TW" dirty="0"/>
              <a:t>API</a:t>
            </a:r>
            <a:r>
              <a:rPr lang="zh-TW" altLang="en-US" dirty="0"/>
              <a:t> 接口在 </a:t>
            </a:r>
            <a:r>
              <a:rPr lang="en-US" altLang="zh-TW" dirty="0" err="1"/>
              <a:t>SiteRoleController</a:t>
            </a:r>
            <a:endParaRPr lang="en-US" altLang="zh-TW" dirty="0"/>
          </a:p>
          <a:p>
            <a:r>
              <a:rPr lang="zh-TW" altLang="en-US" dirty="0"/>
              <a:t>相關的 </a:t>
            </a:r>
            <a:r>
              <a:rPr lang="en-US" altLang="zh-TW" dirty="0"/>
              <a:t>table </a:t>
            </a:r>
            <a:r>
              <a:rPr lang="zh-TW" altLang="en-US" dirty="0"/>
              <a:t>如圖</a:t>
            </a:r>
            <a:endParaRPr lang="en-US" altLang="zh-TW" dirty="0"/>
          </a:p>
        </p:txBody>
      </p:sp>
      <p:pic>
        <p:nvPicPr>
          <p:cNvPr id="5" name="Picture 4">
            <a:extLst>
              <a:ext uri="{FF2B5EF4-FFF2-40B4-BE49-F238E27FC236}">
                <a16:creationId xmlns:a16="http://schemas.microsoft.com/office/drawing/2014/main" id="{4068F4E0-A9A4-9462-7EAD-81FC7608921F}"/>
              </a:ext>
            </a:extLst>
          </p:cNvPr>
          <p:cNvPicPr>
            <a:picLocks noChangeAspect="1"/>
          </p:cNvPicPr>
          <p:nvPr/>
        </p:nvPicPr>
        <p:blipFill>
          <a:blip r:embed="rId3"/>
          <a:stretch>
            <a:fillRect/>
          </a:stretch>
        </p:blipFill>
        <p:spPr>
          <a:xfrm>
            <a:off x="7982266" y="2218444"/>
            <a:ext cx="2972215" cy="3905795"/>
          </a:xfrm>
          <a:prstGeom prst="rect">
            <a:avLst/>
          </a:prstGeom>
        </p:spPr>
      </p:pic>
      <p:pic>
        <p:nvPicPr>
          <p:cNvPr id="7" name="Picture 6">
            <a:extLst>
              <a:ext uri="{FF2B5EF4-FFF2-40B4-BE49-F238E27FC236}">
                <a16:creationId xmlns:a16="http://schemas.microsoft.com/office/drawing/2014/main" id="{965BC58A-5466-58CA-2570-DE138547D1C0}"/>
              </a:ext>
            </a:extLst>
          </p:cNvPr>
          <p:cNvPicPr>
            <a:picLocks noChangeAspect="1"/>
          </p:cNvPicPr>
          <p:nvPr/>
        </p:nvPicPr>
        <p:blipFill>
          <a:blip r:embed="rId4"/>
          <a:stretch>
            <a:fillRect/>
          </a:stretch>
        </p:blipFill>
        <p:spPr>
          <a:xfrm>
            <a:off x="4990999" y="2970980"/>
            <a:ext cx="2991267" cy="1352739"/>
          </a:xfrm>
          <a:prstGeom prst="rect">
            <a:avLst/>
          </a:prstGeom>
        </p:spPr>
      </p:pic>
    </p:spTree>
    <p:extLst>
      <p:ext uri="{BB962C8B-B14F-4D97-AF65-F5344CB8AC3E}">
        <p14:creationId xmlns:p14="http://schemas.microsoft.com/office/powerpoint/2010/main" val="910559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據點管理</a:t>
            </a:r>
          </a:p>
        </p:txBody>
      </p:sp>
    </p:spTree>
    <p:extLst>
      <p:ext uri="{BB962C8B-B14F-4D97-AF65-F5344CB8AC3E}">
        <p14:creationId xmlns:p14="http://schemas.microsoft.com/office/powerpoint/2010/main" val="3051157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D5B32-BC59-CEAA-C899-EAC52910A5CC}"/>
              </a:ext>
            </a:extLst>
          </p:cNvPr>
          <p:cNvSpPr>
            <a:spLocks noGrp="1"/>
          </p:cNvSpPr>
          <p:nvPr>
            <p:ph type="title"/>
          </p:nvPr>
        </p:nvSpPr>
        <p:spPr>
          <a:xfrm>
            <a:off x="406400" y="372981"/>
            <a:ext cx="11379200" cy="679396"/>
          </a:xfrm>
        </p:spPr>
        <p:txBody>
          <a:bodyPr anchor="ctr">
            <a:normAutofit/>
          </a:bodyPr>
          <a:lstStyle/>
          <a:p>
            <a:r>
              <a:rPr lang="zh-TW" altLang="en-US" dirty="0"/>
              <a:t>據點清單</a:t>
            </a:r>
          </a:p>
        </p:txBody>
      </p:sp>
      <p:sp>
        <p:nvSpPr>
          <p:cNvPr id="3" name="Content Placeholder 2">
            <a:extLst>
              <a:ext uri="{FF2B5EF4-FFF2-40B4-BE49-F238E27FC236}">
                <a16:creationId xmlns:a16="http://schemas.microsoft.com/office/drawing/2014/main" id="{D9A6C450-C8BA-1E32-9667-FBAE6F9EAC6B}"/>
              </a:ext>
            </a:extLst>
          </p:cNvPr>
          <p:cNvSpPr>
            <a:spLocks noGrp="1"/>
          </p:cNvSpPr>
          <p:nvPr>
            <p:ph idx="1"/>
          </p:nvPr>
        </p:nvSpPr>
        <p:spPr>
          <a:xfrm>
            <a:off x="406400" y="1170462"/>
            <a:ext cx="5594350" cy="4953777"/>
          </a:xfrm>
        </p:spPr>
        <p:txBody>
          <a:bodyPr>
            <a:normAutofit/>
          </a:bodyPr>
          <a:lstStyle/>
          <a:p>
            <a:r>
              <a:rPr lang="en-US" altLang="zh-TW" dirty="0"/>
              <a:t>API</a:t>
            </a:r>
            <a:r>
              <a:rPr lang="zh-TW" altLang="en-US" dirty="0"/>
              <a:t> 接口在 </a:t>
            </a:r>
            <a:r>
              <a:rPr lang="en-US" altLang="zh-TW" dirty="0" err="1"/>
              <a:t>SiteController</a:t>
            </a:r>
            <a:endParaRPr lang="en-US" altLang="zh-TW" dirty="0"/>
          </a:p>
          <a:p>
            <a:r>
              <a:rPr lang="zh-TW" altLang="en-US" dirty="0"/>
              <a:t>據點基本資訊 </a:t>
            </a:r>
            <a:r>
              <a:rPr lang="en-US" altLang="zh-TW" dirty="0"/>
              <a:t>(</a:t>
            </a:r>
            <a:r>
              <a:rPr lang="zh-TW" altLang="en-US" dirty="0"/>
              <a:t>包含據點相關選單</a:t>
            </a:r>
            <a:r>
              <a:rPr lang="zh-TW" altLang="en-US" dirty="0">
                <a:solidFill>
                  <a:srgbClr val="FF0000"/>
                </a:solidFill>
              </a:rPr>
              <a:t>區域</a:t>
            </a:r>
            <a:r>
              <a:rPr lang="zh-TW" altLang="en-US" dirty="0"/>
              <a:t>、</a:t>
            </a:r>
            <a:r>
              <a:rPr lang="zh-TW" altLang="en-US" dirty="0">
                <a:solidFill>
                  <a:srgbClr val="FF0000"/>
                </a:solidFill>
              </a:rPr>
              <a:t>國家</a:t>
            </a:r>
            <a:r>
              <a:rPr lang="en-US" altLang="zh-TW" dirty="0">
                <a:solidFill>
                  <a:srgbClr val="FF0000"/>
                </a:solidFill>
              </a:rPr>
              <a:t>/</a:t>
            </a:r>
            <a:r>
              <a:rPr lang="zh-TW" altLang="en-US" dirty="0">
                <a:solidFill>
                  <a:srgbClr val="FF0000"/>
                </a:solidFill>
              </a:rPr>
              <a:t>市場別</a:t>
            </a:r>
            <a:r>
              <a:rPr lang="zh-TW" altLang="en-US" dirty="0"/>
              <a:t>、</a:t>
            </a:r>
            <a:r>
              <a:rPr lang="zh-TW" altLang="en-US" dirty="0">
                <a:solidFill>
                  <a:srgbClr val="FF0000"/>
                </a:solidFill>
              </a:rPr>
              <a:t>城市</a:t>
            </a:r>
            <a:r>
              <a:rPr lang="zh-TW" altLang="en-US" dirty="0"/>
              <a:t>、</a:t>
            </a:r>
            <a:r>
              <a:rPr lang="zh-TW" altLang="en-US" dirty="0">
                <a:solidFill>
                  <a:srgbClr val="FF0000"/>
                </a:solidFill>
              </a:rPr>
              <a:t>類型</a:t>
            </a:r>
            <a:r>
              <a:rPr lang="zh-TW" altLang="en-US" dirty="0"/>
              <a:t>、</a:t>
            </a:r>
            <a:r>
              <a:rPr lang="zh-TW" altLang="en-US" dirty="0">
                <a:solidFill>
                  <a:srgbClr val="FF0000"/>
                </a:solidFill>
              </a:rPr>
              <a:t>狀態</a:t>
            </a:r>
            <a:r>
              <a:rPr lang="zh-TW" altLang="en-US" dirty="0"/>
              <a:t>、</a:t>
            </a:r>
            <a:r>
              <a:rPr lang="zh-TW" altLang="en-US" dirty="0">
                <a:solidFill>
                  <a:srgbClr val="FF0000"/>
                </a:solidFill>
              </a:rPr>
              <a:t>使用面積</a:t>
            </a:r>
            <a:r>
              <a:rPr lang="zh-TW" altLang="en-US" dirty="0"/>
              <a:t>、</a:t>
            </a:r>
            <a:r>
              <a:rPr lang="zh-TW" altLang="en-US" dirty="0">
                <a:solidFill>
                  <a:srgbClr val="FF0000"/>
                </a:solidFill>
              </a:rPr>
              <a:t>人數</a:t>
            </a:r>
            <a:r>
              <a:rPr lang="en-US" altLang="zh-TW" dirty="0"/>
              <a:t>)</a:t>
            </a:r>
            <a:r>
              <a:rPr lang="zh-TW" altLang="en-US" dirty="0"/>
              <a:t> 透過 </a:t>
            </a:r>
            <a:r>
              <a:rPr lang="en-US" altLang="zh-TW" dirty="0" err="1"/>
              <a:t>dsp</a:t>
            </a:r>
            <a:r>
              <a:rPr lang="en-US" altLang="zh-TW" dirty="0"/>
              <a:t>-company </a:t>
            </a:r>
            <a:r>
              <a:rPr lang="zh-TW" altLang="en-US" dirty="0"/>
              <a:t>取得，以 </a:t>
            </a:r>
            <a:r>
              <a:rPr lang="en-US" altLang="zh-TW" dirty="0"/>
              <a:t>Spring cloud </a:t>
            </a:r>
            <a:r>
              <a:rPr lang="en-US" altLang="zh-TW" dirty="0" err="1"/>
              <a:t>openfeign</a:t>
            </a:r>
            <a:r>
              <a:rPr lang="en-US" altLang="zh-TW" dirty="0"/>
              <a:t> </a:t>
            </a:r>
            <a:r>
              <a:rPr lang="zh-TW" altLang="en-US" dirty="0"/>
              <a:t>實作 </a:t>
            </a:r>
            <a:r>
              <a:rPr lang="en-US" altLang="zh-TW" dirty="0"/>
              <a:t>API</a:t>
            </a:r>
            <a:r>
              <a:rPr lang="zh-TW" altLang="en-US" dirty="0"/>
              <a:t> 呼叫，僅需寫類似 </a:t>
            </a:r>
            <a:r>
              <a:rPr lang="en-US" altLang="zh-TW" dirty="0"/>
              <a:t>Controller </a:t>
            </a:r>
            <a:r>
              <a:rPr lang="zh-TW" altLang="en-US" dirty="0"/>
              <a:t>的 </a:t>
            </a:r>
            <a:r>
              <a:rPr lang="en-US" altLang="zh-TW" dirty="0"/>
              <a:t>Annotation</a:t>
            </a:r>
            <a:r>
              <a:rPr lang="zh-TW" altLang="en-US" dirty="0"/>
              <a:t> 即可完成。</a:t>
            </a:r>
            <a:endParaRPr lang="en-US" altLang="zh-TW" dirty="0"/>
          </a:p>
          <a:p>
            <a:r>
              <a:rPr lang="zh-TW" altLang="en-US" dirty="0"/>
              <a:t>部分的據點資訊 </a:t>
            </a:r>
            <a:r>
              <a:rPr lang="en-US" altLang="zh-TW" dirty="0"/>
              <a:t>(OCF</a:t>
            </a:r>
            <a:r>
              <a:rPr lang="zh-TW" altLang="en-US" dirty="0"/>
              <a:t>獨有</a:t>
            </a:r>
            <a:r>
              <a:rPr lang="en-US" altLang="zh-TW" dirty="0"/>
              <a:t>)</a:t>
            </a:r>
            <a:r>
              <a:rPr lang="zh-TW" altLang="en-US" dirty="0"/>
              <a:t> 存在 </a:t>
            </a:r>
            <a:r>
              <a:rPr lang="en-US" altLang="zh-TW" dirty="0"/>
              <a:t>table</a:t>
            </a:r>
            <a:r>
              <a:rPr lang="zh-TW" altLang="en-US" dirty="0"/>
              <a:t> </a:t>
            </a:r>
            <a:r>
              <a:rPr lang="en-US" altLang="zh-TW" dirty="0" err="1"/>
              <a:t>ocf.site</a:t>
            </a:r>
            <a:r>
              <a:rPr lang="zh-TW" altLang="en-US" dirty="0"/>
              <a:t>及 </a:t>
            </a:r>
            <a:r>
              <a:rPr lang="en-US" altLang="zh-TW" dirty="0" err="1"/>
              <a:t>ocf.site_annual</a:t>
            </a:r>
            <a:endParaRPr lang="en-US" altLang="zh-TW" dirty="0"/>
          </a:p>
        </p:txBody>
      </p:sp>
      <p:pic>
        <p:nvPicPr>
          <p:cNvPr id="5" name="Picture 4">
            <a:extLst>
              <a:ext uri="{FF2B5EF4-FFF2-40B4-BE49-F238E27FC236}">
                <a16:creationId xmlns:a16="http://schemas.microsoft.com/office/drawing/2014/main" id="{6CE2EFBF-E619-C5D0-7305-3B855FA24C04}"/>
              </a:ext>
            </a:extLst>
          </p:cNvPr>
          <p:cNvPicPr>
            <a:picLocks noChangeAspect="1"/>
          </p:cNvPicPr>
          <p:nvPr/>
        </p:nvPicPr>
        <p:blipFill>
          <a:blip r:embed="rId2"/>
          <a:stretch>
            <a:fillRect/>
          </a:stretch>
        </p:blipFill>
        <p:spPr>
          <a:xfrm>
            <a:off x="6191250" y="1171851"/>
            <a:ext cx="5594350" cy="2475499"/>
          </a:xfrm>
          <a:prstGeom prst="rect">
            <a:avLst/>
          </a:prstGeom>
          <a:noFill/>
        </p:spPr>
      </p:pic>
      <p:pic>
        <p:nvPicPr>
          <p:cNvPr id="7" name="Picture 6">
            <a:extLst>
              <a:ext uri="{FF2B5EF4-FFF2-40B4-BE49-F238E27FC236}">
                <a16:creationId xmlns:a16="http://schemas.microsoft.com/office/drawing/2014/main" id="{9D2660BF-A551-94CA-787D-1DACE070D12A}"/>
              </a:ext>
            </a:extLst>
          </p:cNvPr>
          <p:cNvPicPr>
            <a:picLocks noChangeAspect="1"/>
          </p:cNvPicPr>
          <p:nvPr/>
        </p:nvPicPr>
        <p:blipFill>
          <a:blip r:embed="rId3"/>
          <a:stretch>
            <a:fillRect/>
          </a:stretch>
        </p:blipFill>
        <p:spPr>
          <a:xfrm>
            <a:off x="6191250" y="3766824"/>
            <a:ext cx="4413727" cy="1533487"/>
          </a:xfrm>
          <a:prstGeom prst="rect">
            <a:avLst/>
          </a:prstGeom>
        </p:spPr>
      </p:pic>
      <p:pic>
        <p:nvPicPr>
          <p:cNvPr id="9" name="Picture 8">
            <a:extLst>
              <a:ext uri="{FF2B5EF4-FFF2-40B4-BE49-F238E27FC236}">
                <a16:creationId xmlns:a16="http://schemas.microsoft.com/office/drawing/2014/main" id="{2A0F68EE-B40F-9FFB-551D-0894DA2F3D16}"/>
              </a:ext>
            </a:extLst>
          </p:cNvPr>
          <p:cNvPicPr>
            <a:picLocks noChangeAspect="1"/>
          </p:cNvPicPr>
          <p:nvPr/>
        </p:nvPicPr>
        <p:blipFill>
          <a:blip r:embed="rId4"/>
          <a:stretch>
            <a:fillRect/>
          </a:stretch>
        </p:blipFill>
        <p:spPr>
          <a:xfrm>
            <a:off x="6191250" y="5291647"/>
            <a:ext cx="3122601" cy="1566353"/>
          </a:xfrm>
          <a:prstGeom prst="rect">
            <a:avLst/>
          </a:prstGeom>
        </p:spPr>
      </p:pic>
    </p:spTree>
    <p:extLst>
      <p:ext uri="{BB962C8B-B14F-4D97-AF65-F5344CB8AC3E}">
        <p14:creationId xmlns:p14="http://schemas.microsoft.com/office/powerpoint/2010/main" val="86149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3884-27C9-0CFD-809F-EE2970589CCE}"/>
              </a:ext>
            </a:extLst>
          </p:cNvPr>
          <p:cNvSpPr>
            <a:spLocks noGrp="1"/>
          </p:cNvSpPr>
          <p:nvPr>
            <p:ph type="title"/>
          </p:nvPr>
        </p:nvSpPr>
        <p:spPr/>
        <p:txBody>
          <a:bodyPr/>
          <a:lstStyle/>
          <a:p>
            <a:r>
              <a:rPr lang="zh-TW" altLang="en-US" dirty="0"/>
              <a:t>碳追蹤</a:t>
            </a:r>
          </a:p>
        </p:txBody>
      </p:sp>
      <p:sp>
        <p:nvSpPr>
          <p:cNvPr id="3" name="Content Placeholder 2">
            <a:extLst>
              <a:ext uri="{FF2B5EF4-FFF2-40B4-BE49-F238E27FC236}">
                <a16:creationId xmlns:a16="http://schemas.microsoft.com/office/drawing/2014/main" id="{5C2C2365-0D59-7594-9E3E-9A0EB8331EF8}"/>
              </a:ext>
            </a:extLst>
          </p:cNvPr>
          <p:cNvSpPr>
            <a:spLocks noGrp="1"/>
          </p:cNvSpPr>
          <p:nvPr>
            <p:ph idx="1"/>
          </p:nvPr>
        </p:nvSpPr>
        <p:spPr/>
        <p:txBody>
          <a:bodyPr/>
          <a:lstStyle/>
          <a:p>
            <a:r>
              <a:rPr lang="en-US" altLang="zh-TW" dirty="0"/>
              <a:t>API</a:t>
            </a:r>
            <a:r>
              <a:rPr lang="zh-TW" altLang="en-US" dirty="0"/>
              <a:t> 接口在 </a:t>
            </a:r>
            <a:r>
              <a:rPr lang="en-US" altLang="zh-TW" dirty="0" err="1"/>
              <a:t>SiteOverviewController</a:t>
            </a:r>
            <a:endParaRPr lang="en-US" altLang="zh-TW" dirty="0"/>
          </a:p>
          <a:p>
            <a:r>
              <a:rPr lang="zh-TW" altLang="en-US" dirty="0"/>
              <a:t>取得據點各年度設備</a:t>
            </a:r>
            <a:r>
              <a:rPr lang="en-US" altLang="zh-TW" dirty="0"/>
              <a:t>/</a:t>
            </a:r>
            <a:r>
              <a:rPr lang="zh-TW" altLang="en-US" dirty="0"/>
              <a:t>活動</a:t>
            </a:r>
            <a:r>
              <a:rPr lang="en-US" altLang="zh-TW" dirty="0"/>
              <a:t>/</a:t>
            </a:r>
            <a:r>
              <a:rPr lang="zh-TW" altLang="en-US" dirty="0"/>
              <a:t>排放源數量及各月份的活動數據填寫進度比例</a:t>
            </a:r>
            <a:endParaRPr lang="en-US" altLang="zh-TW" dirty="0"/>
          </a:p>
          <a:p>
            <a:r>
              <a:rPr lang="zh-TW" altLang="en-US" dirty="0"/>
              <a:t>進度比例以平分至每日的活動數據計算，每日的活動數據存放在 </a:t>
            </a:r>
            <a:r>
              <a:rPr lang="en-US" altLang="zh-TW" dirty="0"/>
              <a:t>table </a:t>
            </a:r>
            <a:r>
              <a:rPr lang="en-US" altLang="zh-TW" dirty="0" err="1"/>
              <a:t>activity_data_daily</a:t>
            </a:r>
            <a:endParaRPr lang="en-US" altLang="zh-TW" dirty="0"/>
          </a:p>
          <a:p>
            <a:r>
              <a:rPr lang="zh-TW" altLang="en-US" dirty="0"/>
              <a:t>相關的 </a:t>
            </a:r>
            <a:r>
              <a:rPr lang="en-US" altLang="zh-TW" dirty="0"/>
              <a:t>table </a:t>
            </a:r>
            <a:r>
              <a:rPr lang="zh-TW" altLang="en-US" dirty="0"/>
              <a:t>如圖</a:t>
            </a:r>
          </a:p>
        </p:txBody>
      </p:sp>
      <p:pic>
        <p:nvPicPr>
          <p:cNvPr id="7" name="Picture 6">
            <a:extLst>
              <a:ext uri="{FF2B5EF4-FFF2-40B4-BE49-F238E27FC236}">
                <a16:creationId xmlns:a16="http://schemas.microsoft.com/office/drawing/2014/main" id="{1B627D4F-A0C8-90CE-CFCC-C4731426349D}"/>
              </a:ext>
            </a:extLst>
          </p:cNvPr>
          <p:cNvPicPr>
            <a:picLocks noChangeAspect="1"/>
          </p:cNvPicPr>
          <p:nvPr/>
        </p:nvPicPr>
        <p:blipFill>
          <a:blip r:embed="rId2"/>
          <a:stretch>
            <a:fillRect/>
          </a:stretch>
        </p:blipFill>
        <p:spPr>
          <a:xfrm>
            <a:off x="3535799" y="2914450"/>
            <a:ext cx="8249801" cy="2857899"/>
          </a:xfrm>
          <a:prstGeom prst="rect">
            <a:avLst/>
          </a:prstGeom>
        </p:spPr>
      </p:pic>
    </p:spTree>
    <p:extLst>
      <p:ext uri="{BB962C8B-B14F-4D97-AF65-F5344CB8AC3E}">
        <p14:creationId xmlns:p14="http://schemas.microsoft.com/office/powerpoint/2010/main" val="4122829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7D418-7916-1067-213A-DD6DA06BA252}"/>
              </a:ext>
            </a:extLst>
          </p:cNvPr>
          <p:cNvSpPr>
            <a:spLocks noGrp="1"/>
          </p:cNvSpPr>
          <p:nvPr>
            <p:ph type="title"/>
          </p:nvPr>
        </p:nvSpPr>
        <p:spPr/>
        <p:txBody>
          <a:bodyPr/>
          <a:lstStyle/>
          <a:p>
            <a:r>
              <a:rPr lang="zh-TW" altLang="en-US" dirty="0"/>
              <a:t>據點設定 </a:t>
            </a:r>
            <a:r>
              <a:rPr lang="en-US" altLang="zh-TW" dirty="0"/>
              <a:t>–</a:t>
            </a:r>
            <a:r>
              <a:rPr lang="zh-TW" altLang="en-US" dirty="0"/>
              <a:t> 基本資訊</a:t>
            </a:r>
          </a:p>
        </p:txBody>
      </p:sp>
      <p:sp>
        <p:nvSpPr>
          <p:cNvPr id="3" name="Content Placeholder 2">
            <a:extLst>
              <a:ext uri="{FF2B5EF4-FFF2-40B4-BE49-F238E27FC236}">
                <a16:creationId xmlns:a16="http://schemas.microsoft.com/office/drawing/2014/main" id="{9B2468E3-6DB1-AB22-920A-27CD64A03B05}"/>
              </a:ext>
            </a:extLst>
          </p:cNvPr>
          <p:cNvSpPr>
            <a:spLocks noGrp="1"/>
          </p:cNvSpPr>
          <p:nvPr>
            <p:ph idx="1"/>
          </p:nvPr>
        </p:nvSpPr>
        <p:spPr/>
        <p:txBody>
          <a:bodyPr/>
          <a:lstStyle/>
          <a:p>
            <a:r>
              <a:rPr lang="en-US" altLang="zh-TW" dirty="0"/>
              <a:t>API</a:t>
            </a:r>
            <a:r>
              <a:rPr lang="zh-TW" altLang="en-US" dirty="0"/>
              <a:t> 接口在 </a:t>
            </a:r>
            <a:r>
              <a:rPr lang="en-US" altLang="zh-TW" dirty="0" err="1"/>
              <a:t>SiteController</a:t>
            </a:r>
            <a:endParaRPr lang="en-US" altLang="zh-TW" dirty="0"/>
          </a:p>
          <a:p>
            <a:r>
              <a:rPr lang="zh-TW" altLang="en-US" dirty="0"/>
              <a:t>呈現據點基本資訊</a:t>
            </a:r>
          </a:p>
        </p:txBody>
      </p:sp>
    </p:spTree>
    <p:extLst>
      <p:ext uri="{BB962C8B-B14F-4D97-AF65-F5344CB8AC3E}">
        <p14:creationId xmlns:p14="http://schemas.microsoft.com/office/powerpoint/2010/main" val="648735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C60C-6DB6-F3DB-B9EC-3476B742B160}"/>
              </a:ext>
            </a:extLst>
          </p:cNvPr>
          <p:cNvSpPr>
            <a:spLocks noGrp="1"/>
          </p:cNvSpPr>
          <p:nvPr>
            <p:ph type="title"/>
          </p:nvPr>
        </p:nvSpPr>
        <p:spPr/>
        <p:txBody>
          <a:bodyPr/>
          <a:lstStyle/>
          <a:p>
            <a:r>
              <a:rPr lang="zh-TW" altLang="en-US" dirty="0"/>
              <a:t>據點設定 </a:t>
            </a:r>
            <a:r>
              <a:rPr lang="en-US" altLang="zh-TW" dirty="0"/>
              <a:t>–</a:t>
            </a:r>
            <a:r>
              <a:rPr lang="zh-TW" altLang="en-US" dirty="0"/>
              <a:t> 顯著性評估</a:t>
            </a:r>
          </a:p>
        </p:txBody>
      </p:sp>
      <p:sp>
        <p:nvSpPr>
          <p:cNvPr id="3" name="Content Placeholder 2">
            <a:extLst>
              <a:ext uri="{FF2B5EF4-FFF2-40B4-BE49-F238E27FC236}">
                <a16:creationId xmlns:a16="http://schemas.microsoft.com/office/drawing/2014/main" id="{4FEBC5A1-5560-CFFA-4ACA-7358A59E3260}"/>
              </a:ext>
            </a:extLst>
          </p:cNvPr>
          <p:cNvSpPr>
            <a:spLocks noGrp="1"/>
          </p:cNvSpPr>
          <p:nvPr>
            <p:ph idx="1"/>
          </p:nvPr>
        </p:nvSpPr>
        <p:spPr/>
        <p:txBody>
          <a:bodyPr/>
          <a:lstStyle/>
          <a:p>
            <a:r>
              <a:rPr lang="zh-TW" altLang="en-US" dirty="0"/>
              <a:t>規格可參考</a:t>
            </a:r>
            <a:r>
              <a:rPr lang="en-US" altLang="zh-TW" dirty="0">
                <a:hlinkClick r:id="rId2"/>
              </a:rPr>
              <a:t>20240109-2.1</a:t>
            </a:r>
            <a:r>
              <a:rPr lang="zh-TW" altLang="en-US" dirty="0">
                <a:hlinkClick r:id="rId2"/>
              </a:rPr>
              <a:t>會議記錄</a:t>
            </a:r>
            <a:r>
              <a:rPr lang="en-US" altLang="zh-TW" dirty="0">
                <a:hlinkClick r:id="rId2"/>
              </a:rPr>
              <a:t>-390979.docx</a:t>
            </a:r>
            <a:endParaRPr lang="en-US" altLang="zh-TW" dirty="0"/>
          </a:p>
          <a:p>
            <a:r>
              <a:rPr lang="en-US" altLang="zh-TW" dirty="0"/>
              <a:t>API</a:t>
            </a:r>
            <a:r>
              <a:rPr lang="zh-TW" altLang="en-US" dirty="0"/>
              <a:t> 接口在 </a:t>
            </a:r>
            <a:r>
              <a:rPr lang="en-US" altLang="zh-TW" dirty="0" err="1"/>
              <a:t>SignifAssessmentController</a:t>
            </a:r>
            <a:endParaRPr lang="en-US" altLang="zh-TW" dirty="0"/>
          </a:p>
          <a:p>
            <a:r>
              <a:rPr lang="zh-TW" altLang="en-US" dirty="0"/>
              <a:t>評估選項表的欄直接以 </a:t>
            </a:r>
            <a:r>
              <a:rPr lang="en-US" altLang="zh-TW" dirty="0"/>
              <a:t>A</a:t>
            </a:r>
            <a:r>
              <a:rPr lang="zh-TW" altLang="en-US" dirty="0"/>
              <a:t>、</a:t>
            </a:r>
            <a:r>
              <a:rPr lang="en-US" altLang="zh-TW" dirty="0"/>
              <a:t>B</a:t>
            </a:r>
            <a:r>
              <a:rPr lang="zh-TW" altLang="en-US" dirty="0"/>
              <a:t>、</a:t>
            </a:r>
            <a:r>
              <a:rPr lang="en-US" altLang="zh-TW" dirty="0"/>
              <a:t>C</a:t>
            </a:r>
            <a:r>
              <a:rPr lang="zh-TW" altLang="en-US" dirty="0"/>
              <a:t>、</a:t>
            </a:r>
            <a:r>
              <a:rPr lang="en-US" altLang="zh-TW" dirty="0"/>
              <a:t>D</a:t>
            </a:r>
            <a:r>
              <a:rPr lang="zh-TW" altLang="en-US" dirty="0"/>
              <a:t> 為 </a:t>
            </a:r>
            <a:r>
              <a:rPr lang="en-US" altLang="zh-TW" dirty="0"/>
              <a:t>PK</a:t>
            </a:r>
          </a:p>
          <a:p>
            <a:r>
              <a:rPr lang="zh-TW" altLang="en-US" dirty="0"/>
              <a:t>評估選項表的列以自增序為</a:t>
            </a:r>
            <a:r>
              <a:rPr lang="en-US" altLang="zh-TW" dirty="0"/>
              <a:t>PK</a:t>
            </a:r>
          </a:p>
          <a:p>
            <a:r>
              <a:rPr lang="zh-TW" altLang="en-US" dirty="0"/>
              <a:t>相關的 </a:t>
            </a:r>
            <a:r>
              <a:rPr lang="en-US" altLang="zh-TW" dirty="0"/>
              <a:t>table </a:t>
            </a:r>
            <a:r>
              <a:rPr lang="zh-TW" altLang="en-US" dirty="0"/>
              <a:t>如圖</a:t>
            </a:r>
          </a:p>
        </p:txBody>
      </p:sp>
      <p:pic>
        <p:nvPicPr>
          <p:cNvPr id="7" name="Picture 6" descr="A diagram of a document">
            <a:extLst>
              <a:ext uri="{FF2B5EF4-FFF2-40B4-BE49-F238E27FC236}">
                <a16:creationId xmlns:a16="http://schemas.microsoft.com/office/drawing/2014/main" id="{0FB570AC-C8CB-6570-3C9F-7C302A1AA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3845" y="1996460"/>
            <a:ext cx="5830193" cy="4039893"/>
          </a:xfrm>
          <a:prstGeom prst="rect">
            <a:avLst/>
          </a:prstGeom>
        </p:spPr>
      </p:pic>
    </p:spTree>
    <p:extLst>
      <p:ext uri="{BB962C8B-B14F-4D97-AF65-F5344CB8AC3E}">
        <p14:creationId xmlns:p14="http://schemas.microsoft.com/office/powerpoint/2010/main" val="277664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2E3EC-1886-D86E-C8A5-89F3A92D7C77}"/>
              </a:ext>
            </a:extLst>
          </p:cNvPr>
          <p:cNvSpPr>
            <a:spLocks noGrp="1"/>
          </p:cNvSpPr>
          <p:nvPr>
            <p:ph type="title"/>
          </p:nvPr>
        </p:nvSpPr>
        <p:spPr/>
        <p:txBody>
          <a:bodyPr/>
          <a:lstStyle/>
          <a:p>
            <a:r>
              <a:rPr lang="zh-TW" altLang="en-US" dirty="0"/>
              <a:t>據點設定 </a:t>
            </a:r>
            <a:r>
              <a:rPr lang="en-US" altLang="zh-TW" dirty="0"/>
              <a:t>–</a:t>
            </a:r>
            <a:r>
              <a:rPr lang="zh-TW" altLang="en-US" dirty="0"/>
              <a:t> 排放源</a:t>
            </a:r>
          </a:p>
        </p:txBody>
      </p:sp>
      <p:sp>
        <p:nvSpPr>
          <p:cNvPr id="3" name="Content Placeholder 2">
            <a:extLst>
              <a:ext uri="{FF2B5EF4-FFF2-40B4-BE49-F238E27FC236}">
                <a16:creationId xmlns:a16="http://schemas.microsoft.com/office/drawing/2014/main" id="{30CE2142-57B0-8183-761B-FC160EC89C77}"/>
              </a:ext>
            </a:extLst>
          </p:cNvPr>
          <p:cNvSpPr>
            <a:spLocks noGrp="1"/>
          </p:cNvSpPr>
          <p:nvPr>
            <p:ph idx="1"/>
          </p:nvPr>
        </p:nvSpPr>
        <p:spPr/>
        <p:txBody>
          <a:bodyPr/>
          <a:lstStyle/>
          <a:p>
            <a:r>
              <a:rPr lang="en-US" altLang="zh-TW" dirty="0"/>
              <a:t>API</a:t>
            </a:r>
            <a:r>
              <a:rPr lang="zh-TW" altLang="en-US" dirty="0"/>
              <a:t> 接口在 </a:t>
            </a:r>
            <a:r>
              <a:rPr lang="en-US" altLang="zh-TW" dirty="0" err="1"/>
              <a:t>EmissionSourceController</a:t>
            </a:r>
            <a:endParaRPr lang="en-US" altLang="zh-TW" dirty="0"/>
          </a:p>
          <a:p>
            <a:r>
              <a:rPr lang="zh-TW" altLang="en-US" dirty="0"/>
              <a:t>相關規格可參考</a:t>
            </a:r>
            <a:r>
              <a:rPr lang="en-US" altLang="zh-TW" dirty="0">
                <a:hlinkClick r:id="rId2"/>
              </a:rPr>
              <a:t>20240119-</a:t>
            </a:r>
            <a:r>
              <a:rPr lang="zh-TW" altLang="en-US" dirty="0">
                <a:hlinkClick r:id="rId2"/>
              </a:rPr>
              <a:t>設計規格書</a:t>
            </a:r>
            <a:r>
              <a:rPr lang="en-US" altLang="zh-TW" dirty="0">
                <a:hlinkClick r:id="rId2"/>
              </a:rPr>
              <a:t>-Release0.3-Spring2-394598-</a:t>
            </a:r>
            <a:r>
              <a:rPr lang="zh-TW" altLang="en-US" dirty="0">
                <a:hlinkClick r:id="rId2"/>
              </a:rPr>
              <a:t>年度</a:t>
            </a:r>
            <a:r>
              <a:rPr lang="en-US" altLang="zh-TW" dirty="0">
                <a:hlinkClick r:id="rId2"/>
              </a:rPr>
              <a:t>.docx</a:t>
            </a:r>
            <a:r>
              <a:rPr lang="zh-TW" altLang="en-US" dirty="0"/>
              <a:t>、</a:t>
            </a:r>
            <a:r>
              <a:rPr lang="en-US" altLang="zh-TW" dirty="0">
                <a:hlinkClick r:id="rId3"/>
              </a:rPr>
              <a:t>20240227-</a:t>
            </a:r>
            <a:r>
              <a:rPr lang="zh-TW" altLang="en-US" dirty="0">
                <a:hlinkClick r:id="rId3"/>
              </a:rPr>
              <a:t>設計規格書</a:t>
            </a:r>
            <a:r>
              <a:rPr lang="en-US" altLang="zh-TW" dirty="0">
                <a:hlinkClick r:id="rId3"/>
              </a:rPr>
              <a:t>-Release0.3-Spring3-403040-</a:t>
            </a:r>
            <a:r>
              <a:rPr lang="zh-TW" altLang="en-US" dirty="0">
                <a:hlinkClick r:id="rId3"/>
              </a:rPr>
              <a:t>排放因子表</a:t>
            </a:r>
            <a:r>
              <a:rPr lang="en-US" altLang="zh-TW" dirty="0">
                <a:hlinkClick r:id="rId3"/>
              </a:rPr>
              <a:t>.docx</a:t>
            </a:r>
            <a:r>
              <a:rPr lang="zh-TW" altLang="en-US" dirty="0"/>
              <a:t>、</a:t>
            </a:r>
            <a:r>
              <a:rPr lang="en-US" altLang="zh-TW" dirty="0">
                <a:hlinkClick r:id="rId4"/>
              </a:rPr>
              <a:t>20240109-2.1</a:t>
            </a:r>
            <a:r>
              <a:rPr lang="zh-TW" altLang="en-US" dirty="0">
                <a:hlinkClick r:id="rId4"/>
              </a:rPr>
              <a:t>會議記錄</a:t>
            </a:r>
            <a:r>
              <a:rPr lang="en-US" altLang="zh-TW" dirty="0">
                <a:hlinkClick r:id="rId4"/>
              </a:rPr>
              <a:t>-390971.docx</a:t>
            </a:r>
            <a:r>
              <a:rPr lang="zh-TW" altLang="en-US" dirty="0"/>
              <a:t>、</a:t>
            </a:r>
            <a:r>
              <a:rPr lang="en-US" altLang="zh-TW" dirty="0">
                <a:hlinkClick r:id="rId5"/>
              </a:rPr>
              <a:t>20240109-2.1</a:t>
            </a:r>
            <a:r>
              <a:rPr lang="zh-TW" altLang="en-US" dirty="0">
                <a:hlinkClick r:id="rId5"/>
              </a:rPr>
              <a:t>會議記錄</a:t>
            </a:r>
            <a:r>
              <a:rPr lang="en-US" altLang="zh-TW" dirty="0">
                <a:hlinkClick r:id="rId5"/>
              </a:rPr>
              <a:t>-390974.docx</a:t>
            </a:r>
            <a:r>
              <a:rPr lang="zh-TW" altLang="en-US" dirty="0"/>
              <a:t>、</a:t>
            </a:r>
            <a:r>
              <a:rPr lang="en-US" altLang="zh-TW" dirty="0">
                <a:hlinkClick r:id="rId6"/>
              </a:rPr>
              <a:t>20240109-2.1</a:t>
            </a:r>
            <a:r>
              <a:rPr lang="zh-TW" altLang="en-US" dirty="0">
                <a:hlinkClick r:id="rId6"/>
              </a:rPr>
              <a:t>會議記錄</a:t>
            </a:r>
            <a:r>
              <a:rPr lang="en-US" altLang="zh-TW" dirty="0">
                <a:hlinkClick r:id="rId6"/>
              </a:rPr>
              <a:t>-390969.docx</a:t>
            </a:r>
            <a:r>
              <a:rPr lang="zh-TW" altLang="en-US" dirty="0"/>
              <a:t>及</a:t>
            </a:r>
            <a:r>
              <a:rPr lang="en-US" altLang="zh-TW" dirty="0">
                <a:hlinkClick r:id="rId7"/>
              </a:rPr>
              <a:t>20240130-</a:t>
            </a:r>
            <a:r>
              <a:rPr lang="zh-TW" altLang="en-US" dirty="0">
                <a:hlinkClick r:id="rId7"/>
              </a:rPr>
              <a:t>設計規格書</a:t>
            </a:r>
            <a:r>
              <a:rPr lang="en-US" altLang="zh-TW" dirty="0">
                <a:hlinkClick r:id="rId7"/>
              </a:rPr>
              <a:t>-Release0.3-Spring2-394350-</a:t>
            </a:r>
            <a:r>
              <a:rPr lang="zh-TW" altLang="en-US" dirty="0">
                <a:hlinkClick r:id="rId7"/>
              </a:rPr>
              <a:t>活動數據填寫未完善的畫面提醒通知</a:t>
            </a:r>
            <a:r>
              <a:rPr lang="en-US" altLang="zh-TW" dirty="0">
                <a:hlinkClick r:id="rId7"/>
              </a:rPr>
              <a:t>.docx</a:t>
            </a:r>
            <a:endParaRPr lang="en-US" altLang="zh-TW" dirty="0"/>
          </a:p>
          <a:p>
            <a:r>
              <a:rPr lang="zh-TW" altLang="en-US" dirty="0"/>
              <a:t>相關的 </a:t>
            </a:r>
            <a:r>
              <a:rPr lang="en-US" altLang="zh-TW" dirty="0"/>
              <a:t>table </a:t>
            </a:r>
            <a:r>
              <a:rPr lang="zh-TW" altLang="en-US" dirty="0"/>
              <a:t>如圖</a:t>
            </a:r>
            <a:endParaRPr lang="en-US" altLang="zh-TW" dirty="0"/>
          </a:p>
          <a:p>
            <a:endParaRPr lang="zh-TW" altLang="en-US" dirty="0"/>
          </a:p>
        </p:txBody>
      </p:sp>
      <p:pic>
        <p:nvPicPr>
          <p:cNvPr id="7" name="Picture 6">
            <a:extLst>
              <a:ext uri="{FF2B5EF4-FFF2-40B4-BE49-F238E27FC236}">
                <a16:creationId xmlns:a16="http://schemas.microsoft.com/office/drawing/2014/main" id="{AC0A19AB-CAC7-008C-F720-1E8BA0819975}"/>
              </a:ext>
            </a:extLst>
          </p:cNvPr>
          <p:cNvPicPr>
            <a:picLocks noChangeAspect="1"/>
          </p:cNvPicPr>
          <p:nvPr/>
        </p:nvPicPr>
        <p:blipFill>
          <a:blip r:embed="rId8"/>
          <a:stretch>
            <a:fillRect/>
          </a:stretch>
        </p:blipFill>
        <p:spPr>
          <a:xfrm>
            <a:off x="4273823" y="3051872"/>
            <a:ext cx="7511777" cy="3190452"/>
          </a:xfrm>
          <a:prstGeom prst="rect">
            <a:avLst/>
          </a:prstGeom>
        </p:spPr>
      </p:pic>
    </p:spTree>
    <p:extLst>
      <p:ext uri="{BB962C8B-B14F-4D97-AF65-F5344CB8AC3E}">
        <p14:creationId xmlns:p14="http://schemas.microsoft.com/office/powerpoint/2010/main" val="278022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4126-9149-4344-D363-D68C72F5B1C0}"/>
              </a:ext>
            </a:extLst>
          </p:cNvPr>
          <p:cNvSpPr>
            <a:spLocks noGrp="1"/>
          </p:cNvSpPr>
          <p:nvPr>
            <p:ph type="title"/>
          </p:nvPr>
        </p:nvSpPr>
        <p:spPr/>
        <p:txBody>
          <a:bodyPr/>
          <a:lstStyle/>
          <a:p>
            <a:r>
              <a:rPr lang="zh-TW" altLang="en-US" dirty="0"/>
              <a:t>據點設定 </a:t>
            </a:r>
            <a:r>
              <a:rPr lang="en-US" altLang="zh-TW" dirty="0"/>
              <a:t>–</a:t>
            </a:r>
            <a:r>
              <a:rPr lang="zh-TW" altLang="en-US" dirty="0"/>
              <a:t> 設備</a:t>
            </a:r>
          </a:p>
        </p:txBody>
      </p:sp>
      <p:sp>
        <p:nvSpPr>
          <p:cNvPr id="3" name="Content Placeholder 2">
            <a:extLst>
              <a:ext uri="{FF2B5EF4-FFF2-40B4-BE49-F238E27FC236}">
                <a16:creationId xmlns:a16="http://schemas.microsoft.com/office/drawing/2014/main" id="{543F3D17-46D3-5132-30AB-D221B9E279F0}"/>
              </a:ext>
            </a:extLst>
          </p:cNvPr>
          <p:cNvSpPr>
            <a:spLocks noGrp="1"/>
          </p:cNvSpPr>
          <p:nvPr>
            <p:ph idx="1"/>
          </p:nvPr>
        </p:nvSpPr>
        <p:spPr/>
        <p:txBody>
          <a:bodyPr/>
          <a:lstStyle/>
          <a:p>
            <a:r>
              <a:rPr lang="en-US" altLang="zh-TW" dirty="0"/>
              <a:t>API</a:t>
            </a:r>
            <a:r>
              <a:rPr lang="zh-TW" altLang="en-US" dirty="0"/>
              <a:t> 接口在 </a:t>
            </a:r>
            <a:r>
              <a:rPr lang="en-US" altLang="zh-TW" dirty="0" err="1"/>
              <a:t>EquipmentController</a:t>
            </a:r>
            <a:endParaRPr lang="en-US" altLang="zh-TW" dirty="0"/>
          </a:p>
          <a:p>
            <a:r>
              <a:rPr lang="zh-TW" altLang="en-US" dirty="0"/>
              <a:t>相關的 </a:t>
            </a:r>
            <a:r>
              <a:rPr lang="en-US" altLang="zh-TW" dirty="0"/>
              <a:t>table </a:t>
            </a:r>
            <a:r>
              <a:rPr lang="zh-TW" altLang="en-US" dirty="0"/>
              <a:t>如圖</a:t>
            </a:r>
          </a:p>
        </p:txBody>
      </p:sp>
      <p:pic>
        <p:nvPicPr>
          <p:cNvPr id="5" name="Picture 4">
            <a:extLst>
              <a:ext uri="{FF2B5EF4-FFF2-40B4-BE49-F238E27FC236}">
                <a16:creationId xmlns:a16="http://schemas.microsoft.com/office/drawing/2014/main" id="{268DD052-CE5C-8C2A-1DD5-3E653C1CA454}"/>
              </a:ext>
            </a:extLst>
          </p:cNvPr>
          <p:cNvPicPr>
            <a:picLocks noChangeAspect="1"/>
          </p:cNvPicPr>
          <p:nvPr/>
        </p:nvPicPr>
        <p:blipFill>
          <a:blip r:embed="rId2"/>
          <a:stretch>
            <a:fillRect/>
          </a:stretch>
        </p:blipFill>
        <p:spPr>
          <a:xfrm>
            <a:off x="3792481" y="1669487"/>
            <a:ext cx="7993119" cy="4572837"/>
          </a:xfrm>
          <a:prstGeom prst="rect">
            <a:avLst/>
          </a:prstGeom>
        </p:spPr>
      </p:pic>
    </p:spTree>
    <p:extLst>
      <p:ext uri="{BB962C8B-B14F-4D97-AF65-F5344CB8AC3E}">
        <p14:creationId xmlns:p14="http://schemas.microsoft.com/office/powerpoint/2010/main" val="3355114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C9051-951A-2BE1-8235-09F8D345753B}"/>
              </a:ext>
            </a:extLst>
          </p:cNvPr>
          <p:cNvSpPr>
            <a:spLocks noGrp="1"/>
          </p:cNvSpPr>
          <p:nvPr>
            <p:ph type="title"/>
          </p:nvPr>
        </p:nvSpPr>
        <p:spPr/>
        <p:txBody>
          <a:bodyPr/>
          <a:lstStyle/>
          <a:p>
            <a:r>
              <a:rPr lang="zh-TW" altLang="en-US" dirty="0"/>
              <a:t>據點設定 </a:t>
            </a:r>
            <a:r>
              <a:rPr lang="en-US" altLang="zh-TW" dirty="0"/>
              <a:t>–</a:t>
            </a:r>
            <a:r>
              <a:rPr lang="zh-TW" altLang="en-US" dirty="0"/>
              <a:t> 活動</a:t>
            </a:r>
          </a:p>
        </p:txBody>
      </p:sp>
      <p:sp>
        <p:nvSpPr>
          <p:cNvPr id="3" name="Content Placeholder 2">
            <a:extLst>
              <a:ext uri="{FF2B5EF4-FFF2-40B4-BE49-F238E27FC236}">
                <a16:creationId xmlns:a16="http://schemas.microsoft.com/office/drawing/2014/main" id="{369BCCCA-B5CD-BD75-9372-0662A8DED5E6}"/>
              </a:ext>
            </a:extLst>
          </p:cNvPr>
          <p:cNvSpPr>
            <a:spLocks noGrp="1"/>
          </p:cNvSpPr>
          <p:nvPr>
            <p:ph idx="1"/>
          </p:nvPr>
        </p:nvSpPr>
        <p:spPr/>
        <p:txBody>
          <a:bodyPr/>
          <a:lstStyle/>
          <a:p>
            <a:r>
              <a:rPr lang="en-US" altLang="zh-TW" dirty="0"/>
              <a:t>API</a:t>
            </a:r>
            <a:r>
              <a:rPr lang="zh-TW" altLang="en-US" dirty="0"/>
              <a:t> 接口在 </a:t>
            </a:r>
            <a:r>
              <a:rPr lang="en-US" altLang="zh-TW" dirty="0" err="1"/>
              <a:t>ActivityController</a:t>
            </a:r>
            <a:endParaRPr lang="en-US" altLang="zh-TW" dirty="0"/>
          </a:p>
          <a:p>
            <a:r>
              <a:rPr lang="zh-TW" altLang="en-US" dirty="0"/>
              <a:t>相關的 </a:t>
            </a:r>
            <a:r>
              <a:rPr lang="en-US" altLang="zh-TW" dirty="0"/>
              <a:t>table</a:t>
            </a:r>
            <a:r>
              <a:rPr lang="zh-TW" altLang="en-US" dirty="0"/>
              <a:t> 如圖</a:t>
            </a:r>
          </a:p>
        </p:txBody>
      </p:sp>
      <p:pic>
        <p:nvPicPr>
          <p:cNvPr id="5" name="Picture 4">
            <a:extLst>
              <a:ext uri="{FF2B5EF4-FFF2-40B4-BE49-F238E27FC236}">
                <a16:creationId xmlns:a16="http://schemas.microsoft.com/office/drawing/2014/main" id="{5FCA0FBF-AE15-E832-BF72-708A9273047D}"/>
              </a:ext>
            </a:extLst>
          </p:cNvPr>
          <p:cNvPicPr>
            <a:picLocks noChangeAspect="1"/>
          </p:cNvPicPr>
          <p:nvPr/>
        </p:nvPicPr>
        <p:blipFill>
          <a:blip r:embed="rId2"/>
          <a:stretch>
            <a:fillRect/>
          </a:stretch>
        </p:blipFill>
        <p:spPr>
          <a:xfrm>
            <a:off x="2219025" y="2113473"/>
            <a:ext cx="9566575" cy="2969990"/>
          </a:xfrm>
          <a:prstGeom prst="rect">
            <a:avLst/>
          </a:prstGeom>
        </p:spPr>
      </p:pic>
    </p:spTree>
    <p:extLst>
      <p:ext uri="{BB962C8B-B14F-4D97-AF65-F5344CB8AC3E}">
        <p14:creationId xmlns:p14="http://schemas.microsoft.com/office/powerpoint/2010/main" val="2009050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49286-472B-EF08-1142-2106D6C8B41D}"/>
              </a:ext>
            </a:extLst>
          </p:cNvPr>
          <p:cNvSpPr>
            <a:spLocks noGrp="1"/>
          </p:cNvSpPr>
          <p:nvPr>
            <p:ph type="title"/>
          </p:nvPr>
        </p:nvSpPr>
        <p:spPr/>
        <p:txBody>
          <a:bodyPr/>
          <a:lstStyle/>
          <a:p>
            <a:r>
              <a:rPr lang="zh-TW" altLang="en-US" dirty="0"/>
              <a:t>據點設定 </a:t>
            </a:r>
            <a:r>
              <a:rPr lang="en-US" altLang="zh-TW" dirty="0"/>
              <a:t>–</a:t>
            </a:r>
            <a:r>
              <a:rPr lang="zh-TW" altLang="en-US" dirty="0"/>
              <a:t> 原燃物料或產品係數</a:t>
            </a:r>
          </a:p>
        </p:txBody>
      </p:sp>
      <p:sp>
        <p:nvSpPr>
          <p:cNvPr id="3" name="Content Placeholder 2">
            <a:extLst>
              <a:ext uri="{FF2B5EF4-FFF2-40B4-BE49-F238E27FC236}">
                <a16:creationId xmlns:a16="http://schemas.microsoft.com/office/drawing/2014/main" id="{333DD2C4-D61D-2934-0695-10A6808E9EFE}"/>
              </a:ext>
            </a:extLst>
          </p:cNvPr>
          <p:cNvSpPr>
            <a:spLocks noGrp="1"/>
          </p:cNvSpPr>
          <p:nvPr>
            <p:ph idx="1"/>
          </p:nvPr>
        </p:nvSpPr>
        <p:spPr>
          <a:xfrm>
            <a:off x="406400" y="1170462"/>
            <a:ext cx="6061512" cy="4953777"/>
          </a:xfrm>
        </p:spPr>
        <p:txBody>
          <a:bodyPr/>
          <a:lstStyle/>
          <a:p>
            <a:r>
              <a:rPr lang="en-US" altLang="zh-TW" dirty="0"/>
              <a:t>API</a:t>
            </a:r>
            <a:r>
              <a:rPr lang="zh-TW" altLang="en-US" dirty="0"/>
              <a:t> 接口在 </a:t>
            </a:r>
            <a:r>
              <a:rPr lang="en-US" altLang="zh-TW" dirty="0" err="1"/>
              <a:t>ResourceController</a:t>
            </a:r>
            <a:endParaRPr lang="en-US" altLang="zh-TW" dirty="0"/>
          </a:p>
          <a:p>
            <a:r>
              <a:rPr lang="en-US" altLang="zh-TW" dirty="0" err="1"/>
              <a:t>ghg_based</a:t>
            </a:r>
            <a:r>
              <a:rPr lang="en-US" altLang="zh-TW" dirty="0"/>
              <a:t>: </a:t>
            </a:r>
            <a:r>
              <a:rPr lang="zh-TW" altLang="en-US" dirty="0"/>
              <a:t>係數若為電力係數，則會在市場別</a:t>
            </a:r>
            <a:r>
              <a:rPr lang="en-US" altLang="zh-TW" dirty="0"/>
              <a:t>(market)</a:t>
            </a:r>
            <a:r>
              <a:rPr lang="zh-TW" altLang="en-US" dirty="0"/>
              <a:t>、區域別</a:t>
            </a:r>
            <a:r>
              <a:rPr lang="en-US" altLang="zh-TW" dirty="0"/>
              <a:t>(location)</a:t>
            </a:r>
            <a:r>
              <a:rPr lang="zh-TW" altLang="en-US" dirty="0"/>
              <a:t>各綁訂一個係數，否則則是綁定至少一個一般</a:t>
            </a:r>
            <a:r>
              <a:rPr lang="en-US" altLang="zh-TW" dirty="0"/>
              <a:t>(general)</a:t>
            </a:r>
            <a:r>
              <a:rPr lang="zh-TW" altLang="en-US" dirty="0"/>
              <a:t>係數</a:t>
            </a:r>
            <a:endParaRPr lang="en-US" altLang="zh-TW" dirty="0"/>
          </a:p>
          <a:p>
            <a:r>
              <a:rPr lang="zh-TW" altLang="en-US" dirty="0"/>
              <a:t>相關的 </a:t>
            </a:r>
            <a:r>
              <a:rPr lang="en-US" altLang="zh-TW" dirty="0"/>
              <a:t>table </a:t>
            </a:r>
            <a:r>
              <a:rPr lang="zh-TW" altLang="en-US" dirty="0"/>
              <a:t>如圖</a:t>
            </a:r>
          </a:p>
        </p:txBody>
      </p:sp>
      <p:pic>
        <p:nvPicPr>
          <p:cNvPr id="5" name="Picture 4">
            <a:extLst>
              <a:ext uri="{FF2B5EF4-FFF2-40B4-BE49-F238E27FC236}">
                <a16:creationId xmlns:a16="http://schemas.microsoft.com/office/drawing/2014/main" id="{B5265B64-6CC0-F620-E40C-020D75AD8389}"/>
              </a:ext>
            </a:extLst>
          </p:cNvPr>
          <p:cNvPicPr>
            <a:picLocks noChangeAspect="1"/>
          </p:cNvPicPr>
          <p:nvPr/>
        </p:nvPicPr>
        <p:blipFill>
          <a:blip r:embed="rId2"/>
          <a:stretch>
            <a:fillRect/>
          </a:stretch>
        </p:blipFill>
        <p:spPr>
          <a:xfrm>
            <a:off x="6691619" y="1250591"/>
            <a:ext cx="4160837" cy="5349647"/>
          </a:xfrm>
          <a:prstGeom prst="rect">
            <a:avLst/>
          </a:prstGeom>
        </p:spPr>
      </p:pic>
    </p:spTree>
    <p:extLst>
      <p:ext uri="{BB962C8B-B14F-4D97-AF65-F5344CB8AC3E}">
        <p14:creationId xmlns:p14="http://schemas.microsoft.com/office/powerpoint/2010/main" val="2640009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4A41E-0244-BC36-B9CB-5130D19DF6D8}"/>
              </a:ext>
            </a:extLst>
          </p:cNvPr>
          <p:cNvSpPr>
            <a:spLocks noGrp="1"/>
          </p:cNvSpPr>
          <p:nvPr>
            <p:ph type="title"/>
          </p:nvPr>
        </p:nvSpPr>
        <p:spPr/>
        <p:txBody>
          <a:bodyPr/>
          <a:lstStyle/>
          <a:p>
            <a:r>
              <a:rPr lang="zh-TW" altLang="en-US" dirty="0"/>
              <a:t>據點設定 </a:t>
            </a:r>
            <a:r>
              <a:rPr lang="en-US" altLang="zh-TW" dirty="0"/>
              <a:t>–</a:t>
            </a:r>
            <a:r>
              <a:rPr lang="zh-TW" altLang="en-US" dirty="0"/>
              <a:t> 總覽 </a:t>
            </a:r>
            <a:r>
              <a:rPr lang="en-US" altLang="zh-TW" dirty="0"/>
              <a:t>(Total Carbon)</a:t>
            </a:r>
            <a:endParaRPr lang="zh-TW" altLang="en-US" dirty="0"/>
          </a:p>
        </p:txBody>
      </p:sp>
      <p:sp>
        <p:nvSpPr>
          <p:cNvPr id="3" name="Content Placeholder 2">
            <a:extLst>
              <a:ext uri="{FF2B5EF4-FFF2-40B4-BE49-F238E27FC236}">
                <a16:creationId xmlns:a16="http://schemas.microsoft.com/office/drawing/2014/main" id="{758FA183-07C5-AC28-E6F6-6F2F75E1B3B3}"/>
              </a:ext>
            </a:extLst>
          </p:cNvPr>
          <p:cNvSpPr>
            <a:spLocks noGrp="1"/>
          </p:cNvSpPr>
          <p:nvPr>
            <p:ph idx="1"/>
          </p:nvPr>
        </p:nvSpPr>
        <p:spPr/>
        <p:txBody>
          <a:bodyPr/>
          <a:lstStyle/>
          <a:p>
            <a:r>
              <a:rPr lang="en-US" altLang="zh-TW" dirty="0"/>
              <a:t>API </a:t>
            </a:r>
            <a:r>
              <a:rPr lang="zh-TW" altLang="en-US" dirty="0"/>
              <a:t>接口在 </a:t>
            </a:r>
            <a:r>
              <a:rPr lang="en-US" altLang="zh-TW" dirty="0" err="1"/>
              <a:t>SiteOverviewController</a:t>
            </a:r>
            <a:endParaRPr lang="en-US" altLang="zh-TW" dirty="0"/>
          </a:p>
          <a:p>
            <a:r>
              <a:rPr lang="zh-TW" altLang="en-US" dirty="0"/>
              <a:t>以時間區間從 </a:t>
            </a:r>
            <a:r>
              <a:rPr lang="en-US" altLang="zh-TW" dirty="0" err="1"/>
              <a:t>activity_data_ghg_emission</a:t>
            </a:r>
            <a:r>
              <a:rPr lang="zh-TW" altLang="en-US" dirty="0"/>
              <a:t> 取得時間內的各 </a:t>
            </a:r>
            <a:r>
              <a:rPr lang="en-US" altLang="zh-TW" dirty="0"/>
              <a:t>GHG</a:t>
            </a:r>
            <a:r>
              <a:rPr lang="zh-TW" altLang="en-US" dirty="0"/>
              <a:t> 排放量，在乘上使用者所選的 </a:t>
            </a:r>
            <a:r>
              <a:rPr lang="en-US" altLang="zh-TW" dirty="0"/>
              <a:t>GWP</a:t>
            </a:r>
            <a:r>
              <a:rPr lang="zh-TW" altLang="en-US" dirty="0"/>
              <a:t> 得出總碳排，並以 </a:t>
            </a:r>
            <a:r>
              <a:rPr lang="en-US" altLang="zh-TW" dirty="0"/>
              <a:t>ISO/GHG </a:t>
            </a:r>
            <a:r>
              <a:rPr lang="zh-TW" altLang="en-US" dirty="0"/>
              <a:t>規範分類</a:t>
            </a:r>
            <a:endParaRPr lang="en-US" altLang="zh-TW" dirty="0"/>
          </a:p>
          <a:p>
            <a:r>
              <a:rPr lang="zh-TW" altLang="en-US" dirty="0"/>
              <a:t>相關的 </a:t>
            </a:r>
            <a:r>
              <a:rPr lang="en-US" altLang="zh-TW" dirty="0"/>
              <a:t>table </a:t>
            </a:r>
            <a:r>
              <a:rPr lang="zh-TW" altLang="en-US" dirty="0"/>
              <a:t>如圖</a:t>
            </a:r>
          </a:p>
        </p:txBody>
      </p:sp>
      <p:pic>
        <p:nvPicPr>
          <p:cNvPr id="5" name="Picture 4">
            <a:extLst>
              <a:ext uri="{FF2B5EF4-FFF2-40B4-BE49-F238E27FC236}">
                <a16:creationId xmlns:a16="http://schemas.microsoft.com/office/drawing/2014/main" id="{DBAE5350-2330-0C04-8536-4ABFD0D2F627}"/>
              </a:ext>
            </a:extLst>
          </p:cNvPr>
          <p:cNvPicPr>
            <a:picLocks noChangeAspect="1"/>
          </p:cNvPicPr>
          <p:nvPr/>
        </p:nvPicPr>
        <p:blipFill>
          <a:blip r:embed="rId2"/>
          <a:stretch>
            <a:fillRect/>
          </a:stretch>
        </p:blipFill>
        <p:spPr>
          <a:xfrm>
            <a:off x="3535799" y="2355464"/>
            <a:ext cx="8249801" cy="3991532"/>
          </a:xfrm>
          <a:prstGeom prst="rect">
            <a:avLst/>
          </a:prstGeom>
        </p:spPr>
      </p:pic>
    </p:spTree>
    <p:extLst>
      <p:ext uri="{BB962C8B-B14F-4D97-AF65-F5344CB8AC3E}">
        <p14:creationId xmlns:p14="http://schemas.microsoft.com/office/powerpoint/2010/main" val="3753986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公司管理</a:t>
            </a:r>
          </a:p>
        </p:txBody>
      </p:sp>
    </p:spTree>
    <p:extLst>
      <p:ext uri="{BB962C8B-B14F-4D97-AF65-F5344CB8AC3E}">
        <p14:creationId xmlns:p14="http://schemas.microsoft.com/office/powerpoint/2010/main" val="3194995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7B56-08D5-50BC-88F2-458B8A7B5128}"/>
              </a:ext>
            </a:extLst>
          </p:cNvPr>
          <p:cNvSpPr>
            <a:spLocks noGrp="1"/>
          </p:cNvSpPr>
          <p:nvPr>
            <p:ph type="title"/>
          </p:nvPr>
        </p:nvSpPr>
        <p:spPr>
          <a:xfrm>
            <a:off x="406400" y="372981"/>
            <a:ext cx="11379200" cy="679396"/>
          </a:xfrm>
        </p:spPr>
        <p:txBody>
          <a:bodyPr anchor="ctr">
            <a:normAutofit/>
          </a:bodyPr>
          <a:lstStyle/>
          <a:p>
            <a:r>
              <a:rPr lang="zh-TW" altLang="en-US" dirty="0"/>
              <a:t>公司清單</a:t>
            </a:r>
          </a:p>
        </p:txBody>
      </p:sp>
      <p:sp>
        <p:nvSpPr>
          <p:cNvPr id="3" name="Content Placeholder 2">
            <a:extLst>
              <a:ext uri="{FF2B5EF4-FFF2-40B4-BE49-F238E27FC236}">
                <a16:creationId xmlns:a16="http://schemas.microsoft.com/office/drawing/2014/main" id="{B550BF6E-8A45-D7EC-A701-9045BBF8DB51}"/>
              </a:ext>
            </a:extLst>
          </p:cNvPr>
          <p:cNvSpPr>
            <a:spLocks noGrp="1"/>
          </p:cNvSpPr>
          <p:nvPr>
            <p:ph idx="1"/>
          </p:nvPr>
        </p:nvSpPr>
        <p:spPr>
          <a:xfrm>
            <a:off x="406400" y="1170462"/>
            <a:ext cx="5594350" cy="4953777"/>
          </a:xfrm>
        </p:spPr>
        <p:txBody>
          <a:bodyPr>
            <a:normAutofit/>
          </a:bodyPr>
          <a:lstStyle/>
          <a:p>
            <a:r>
              <a:rPr lang="en-US" altLang="zh-TW" dirty="0"/>
              <a:t>API</a:t>
            </a:r>
            <a:r>
              <a:rPr lang="zh-TW" altLang="en-US" dirty="0"/>
              <a:t> 接口在 </a:t>
            </a:r>
            <a:r>
              <a:rPr lang="en-US" altLang="zh-TW" dirty="0" err="1"/>
              <a:t>CompanyController</a:t>
            </a:r>
            <a:endParaRPr lang="en-US" altLang="zh-TW" dirty="0"/>
          </a:p>
          <a:p>
            <a:r>
              <a:rPr lang="zh-TW" altLang="en-US" dirty="0"/>
              <a:t>使用者相關資訊皆透過 </a:t>
            </a:r>
            <a:r>
              <a:rPr lang="en-US" altLang="zh-TW" dirty="0" err="1"/>
              <a:t>dsp</a:t>
            </a:r>
            <a:r>
              <a:rPr lang="en-US" altLang="zh-TW" dirty="0"/>
              <a:t>-company </a:t>
            </a:r>
            <a:r>
              <a:rPr lang="zh-TW" altLang="en-US" dirty="0"/>
              <a:t>取得，以 </a:t>
            </a:r>
            <a:r>
              <a:rPr lang="en-US" altLang="zh-TW" dirty="0"/>
              <a:t>Spring cloud </a:t>
            </a:r>
            <a:r>
              <a:rPr lang="en-US" altLang="zh-TW" dirty="0" err="1"/>
              <a:t>openfeign</a:t>
            </a:r>
            <a:r>
              <a:rPr lang="en-US" altLang="zh-TW" dirty="0"/>
              <a:t> </a:t>
            </a:r>
            <a:r>
              <a:rPr lang="zh-TW" altLang="en-US" dirty="0"/>
              <a:t>實作 </a:t>
            </a:r>
            <a:r>
              <a:rPr lang="en-US" altLang="zh-TW" dirty="0"/>
              <a:t>API</a:t>
            </a:r>
            <a:r>
              <a:rPr lang="zh-TW" altLang="en-US" dirty="0"/>
              <a:t> 呼叫，僅需寫類似 </a:t>
            </a:r>
            <a:r>
              <a:rPr lang="en-US" altLang="zh-TW" dirty="0"/>
              <a:t>Controller </a:t>
            </a:r>
            <a:r>
              <a:rPr lang="zh-TW" altLang="en-US" dirty="0"/>
              <a:t>的 </a:t>
            </a:r>
            <a:r>
              <a:rPr lang="en-US" altLang="zh-TW" dirty="0"/>
              <a:t>Annotation</a:t>
            </a:r>
            <a:r>
              <a:rPr lang="zh-TW" altLang="en-US" dirty="0"/>
              <a:t> 即可完成。</a:t>
            </a:r>
            <a:endParaRPr lang="en-US" altLang="zh-TW" dirty="0"/>
          </a:p>
          <a:p>
            <a:endParaRPr lang="en-US" altLang="zh-TW" dirty="0"/>
          </a:p>
          <a:p>
            <a:endParaRPr lang="zh-TW" altLang="en-US" dirty="0"/>
          </a:p>
        </p:txBody>
      </p:sp>
      <p:pic>
        <p:nvPicPr>
          <p:cNvPr id="6" name="Picture 5">
            <a:extLst>
              <a:ext uri="{FF2B5EF4-FFF2-40B4-BE49-F238E27FC236}">
                <a16:creationId xmlns:a16="http://schemas.microsoft.com/office/drawing/2014/main" id="{EED2169F-C760-D110-A469-D70A7F651C7D}"/>
              </a:ext>
            </a:extLst>
          </p:cNvPr>
          <p:cNvPicPr>
            <a:picLocks noChangeAspect="1"/>
          </p:cNvPicPr>
          <p:nvPr/>
        </p:nvPicPr>
        <p:blipFill>
          <a:blip r:embed="rId2"/>
          <a:stretch>
            <a:fillRect/>
          </a:stretch>
        </p:blipFill>
        <p:spPr>
          <a:xfrm>
            <a:off x="6191252" y="1170462"/>
            <a:ext cx="5594350" cy="2489486"/>
          </a:xfrm>
          <a:prstGeom prst="rect">
            <a:avLst/>
          </a:prstGeom>
          <a:noFill/>
        </p:spPr>
      </p:pic>
    </p:spTree>
    <p:extLst>
      <p:ext uri="{BB962C8B-B14F-4D97-AF65-F5344CB8AC3E}">
        <p14:creationId xmlns:p14="http://schemas.microsoft.com/office/powerpoint/2010/main" val="3765406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專案管理</a:t>
            </a:r>
          </a:p>
        </p:txBody>
      </p:sp>
    </p:spTree>
    <p:extLst>
      <p:ext uri="{BB962C8B-B14F-4D97-AF65-F5344CB8AC3E}">
        <p14:creationId xmlns:p14="http://schemas.microsoft.com/office/powerpoint/2010/main" val="416536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7B56-08D5-50BC-88F2-458B8A7B5128}"/>
              </a:ext>
            </a:extLst>
          </p:cNvPr>
          <p:cNvSpPr>
            <a:spLocks noGrp="1"/>
          </p:cNvSpPr>
          <p:nvPr>
            <p:ph type="title"/>
          </p:nvPr>
        </p:nvSpPr>
        <p:spPr>
          <a:xfrm>
            <a:off x="406400" y="372981"/>
            <a:ext cx="11379200" cy="679396"/>
          </a:xfrm>
        </p:spPr>
        <p:txBody>
          <a:bodyPr anchor="ctr">
            <a:normAutofit/>
          </a:bodyPr>
          <a:lstStyle/>
          <a:p>
            <a:r>
              <a:rPr lang="zh-TW" altLang="en-US" dirty="0"/>
              <a:t>專案清單</a:t>
            </a:r>
          </a:p>
        </p:txBody>
      </p:sp>
      <p:sp>
        <p:nvSpPr>
          <p:cNvPr id="3" name="Content Placeholder 2">
            <a:extLst>
              <a:ext uri="{FF2B5EF4-FFF2-40B4-BE49-F238E27FC236}">
                <a16:creationId xmlns:a16="http://schemas.microsoft.com/office/drawing/2014/main" id="{B550BF6E-8A45-D7EC-A701-9045BBF8DB51}"/>
              </a:ext>
            </a:extLst>
          </p:cNvPr>
          <p:cNvSpPr>
            <a:spLocks noGrp="1"/>
          </p:cNvSpPr>
          <p:nvPr>
            <p:ph idx="1"/>
          </p:nvPr>
        </p:nvSpPr>
        <p:spPr>
          <a:xfrm>
            <a:off x="406399" y="1170462"/>
            <a:ext cx="11379199" cy="4953777"/>
          </a:xfrm>
        </p:spPr>
        <p:txBody>
          <a:bodyPr>
            <a:normAutofit/>
          </a:bodyPr>
          <a:lstStyle/>
          <a:p>
            <a:r>
              <a:rPr lang="zh-TW" altLang="en-US" dirty="0"/>
              <a:t>相關規格可參考</a:t>
            </a:r>
            <a:r>
              <a:rPr lang="en-US" altLang="zh-TW" dirty="0">
                <a:hlinkClick r:id="rId2"/>
              </a:rPr>
              <a:t>20240402-</a:t>
            </a:r>
            <a:r>
              <a:rPr lang="zh-TW" altLang="en-US" dirty="0">
                <a:hlinkClick r:id="rId2"/>
              </a:rPr>
              <a:t>設計規格書</a:t>
            </a:r>
            <a:r>
              <a:rPr lang="en-US" altLang="zh-TW" dirty="0">
                <a:hlinkClick r:id="rId2"/>
              </a:rPr>
              <a:t>-Release0.3-Sprint4-</a:t>
            </a:r>
            <a:r>
              <a:rPr lang="zh-TW" altLang="en-US" dirty="0">
                <a:hlinkClick r:id="rId2"/>
              </a:rPr>
              <a:t>專案清單</a:t>
            </a:r>
            <a:r>
              <a:rPr lang="en-US" altLang="zh-TW" dirty="0">
                <a:hlinkClick r:id="rId2"/>
              </a:rPr>
              <a:t>(</a:t>
            </a:r>
            <a:r>
              <a:rPr lang="zh-TW" altLang="en-US" dirty="0">
                <a:hlinkClick r:id="rId2"/>
              </a:rPr>
              <a:t>單一年度</a:t>
            </a:r>
            <a:r>
              <a:rPr lang="en-US" altLang="zh-TW" dirty="0">
                <a:hlinkClick r:id="rId2"/>
              </a:rPr>
              <a:t>, </a:t>
            </a:r>
            <a:r>
              <a:rPr lang="zh-TW" altLang="en-US" dirty="0">
                <a:hlinkClick r:id="rId2"/>
              </a:rPr>
              <a:t>查證內容</a:t>
            </a:r>
            <a:r>
              <a:rPr lang="en-US" altLang="zh-TW" dirty="0">
                <a:hlinkClick r:id="rId2"/>
              </a:rPr>
              <a:t>).docx</a:t>
            </a:r>
            <a:endParaRPr lang="en-US" altLang="zh-TW" dirty="0"/>
          </a:p>
          <a:p>
            <a:r>
              <a:rPr lang="en-US" altLang="zh-TW" dirty="0"/>
              <a:t>API</a:t>
            </a:r>
            <a:r>
              <a:rPr lang="zh-TW" altLang="en-US" dirty="0"/>
              <a:t> 接口在 </a:t>
            </a:r>
            <a:r>
              <a:rPr lang="en-US" altLang="zh-TW" dirty="0" err="1"/>
              <a:t>ProjectController</a:t>
            </a:r>
            <a:endParaRPr lang="en-US" altLang="zh-TW" dirty="0"/>
          </a:p>
          <a:p>
            <a:r>
              <a:rPr lang="zh-TW" altLang="en-US" dirty="0"/>
              <a:t>目前公司組織編制圖及推動組織及架</a:t>
            </a:r>
            <a:br>
              <a:rPr lang="en-US" altLang="zh-TW" dirty="0"/>
            </a:br>
            <a:r>
              <a:rPr lang="zh-TW" altLang="en-US" dirty="0"/>
              <a:t>構圖會把圖檔上傳到</a:t>
            </a:r>
            <a:r>
              <a:rPr lang="en-US" altLang="zh-TW" dirty="0" err="1"/>
              <a:t>Minio</a:t>
            </a:r>
            <a:r>
              <a:rPr lang="zh-TW" altLang="en-US" dirty="0"/>
              <a:t>，並存放</a:t>
            </a:r>
            <a:br>
              <a:rPr lang="en-US" altLang="zh-TW" dirty="0"/>
            </a:br>
            <a:r>
              <a:rPr lang="zh-TW" altLang="en-US" dirty="0"/>
              <a:t>在</a:t>
            </a:r>
            <a:r>
              <a:rPr lang="en-US" altLang="zh-TW" dirty="0"/>
              <a:t>table image</a:t>
            </a:r>
            <a:r>
              <a:rPr lang="zh-TW" altLang="en-US" dirty="0"/>
              <a:t>，再把對應的檔案</a:t>
            </a:r>
            <a:r>
              <a:rPr lang="en-US" altLang="zh-TW" dirty="0" err="1"/>
              <a:t>url</a:t>
            </a:r>
            <a:br>
              <a:rPr lang="en-US" altLang="zh-TW" dirty="0"/>
            </a:br>
            <a:r>
              <a:rPr lang="zh-TW" altLang="en-US" dirty="0"/>
              <a:t>存入</a:t>
            </a:r>
            <a:r>
              <a:rPr lang="en-US" altLang="zh-TW" dirty="0" err="1"/>
              <a:t>organization_chart</a:t>
            </a:r>
            <a:r>
              <a:rPr lang="en-US" altLang="zh-TW" dirty="0"/>
              <a:t>/</a:t>
            </a:r>
            <a:br>
              <a:rPr lang="en-US" altLang="zh-TW" dirty="0"/>
            </a:br>
            <a:r>
              <a:rPr lang="en-US" altLang="zh-TW" dirty="0" err="1"/>
              <a:t>promoting_organization_chart</a:t>
            </a:r>
            <a:br>
              <a:rPr lang="en-US" altLang="zh-TW" dirty="0"/>
            </a:br>
            <a:r>
              <a:rPr lang="zh-TW" altLang="en-US" dirty="0"/>
              <a:t>欄位</a:t>
            </a:r>
            <a:endParaRPr lang="en-US" altLang="zh-TW" dirty="0"/>
          </a:p>
          <a:p>
            <a:r>
              <a:rPr lang="zh-TW" altLang="en-US" dirty="0"/>
              <a:t>相關的 </a:t>
            </a:r>
            <a:r>
              <a:rPr lang="en-US" altLang="zh-TW" dirty="0"/>
              <a:t>table </a:t>
            </a:r>
            <a:r>
              <a:rPr lang="zh-TW" altLang="en-US" dirty="0"/>
              <a:t>如圖</a:t>
            </a:r>
            <a:endParaRPr lang="en-US" altLang="zh-TW" dirty="0"/>
          </a:p>
          <a:p>
            <a:endParaRPr lang="en-US" altLang="zh-TW" dirty="0"/>
          </a:p>
          <a:p>
            <a:endParaRPr lang="zh-TW" altLang="en-US" dirty="0"/>
          </a:p>
        </p:txBody>
      </p:sp>
      <p:pic>
        <p:nvPicPr>
          <p:cNvPr id="5" name="Picture 4">
            <a:extLst>
              <a:ext uri="{FF2B5EF4-FFF2-40B4-BE49-F238E27FC236}">
                <a16:creationId xmlns:a16="http://schemas.microsoft.com/office/drawing/2014/main" id="{7A6416E9-E320-555F-B8B9-CD4106D915C8}"/>
              </a:ext>
            </a:extLst>
          </p:cNvPr>
          <p:cNvPicPr>
            <a:picLocks noChangeAspect="1"/>
          </p:cNvPicPr>
          <p:nvPr/>
        </p:nvPicPr>
        <p:blipFill>
          <a:blip r:embed="rId3"/>
          <a:stretch>
            <a:fillRect/>
          </a:stretch>
        </p:blipFill>
        <p:spPr>
          <a:xfrm>
            <a:off x="4865345" y="1587682"/>
            <a:ext cx="6769251" cy="2636953"/>
          </a:xfrm>
          <a:prstGeom prst="rect">
            <a:avLst/>
          </a:prstGeom>
        </p:spPr>
      </p:pic>
      <p:pic>
        <p:nvPicPr>
          <p:cNvPr id="8" name="Picture 7">
            <a:extLst>
              <a:ext uri="{FF2B5EF4-FFF2-40B4-BE49-F238E27FC236}">
                <a16:creationId xmlns:a16="http://schemas.microsoft.com/office/drawing/2014/main" id="{80FA0ECF-44D5-D2EB-B2A2-009B8E2D0618}"/>
              </a:ext>
            </a:extLst>
          </p:cNvPr>
          <p:cNvPicPr>
            <a:picLocks noChangeAspect="1"/>
          </p:cNvPicPr>
          <p:nvPr/>
        </p:nvPicPr>
        <p:blipFill>
          <a:blip r:embed="rId4"/>
          <a:stretch>
            <a:fillRect/>
          </a:stretch>
        </p:blipFill>
        <p:spPr>
          <a:xfrm>
            <a:off x="4356443" y="3516182"/>
            <a:ext cx="5310700" cy="3341818"/>
          </a:xfrm>
          <a:prstGeom prst="rect">
            <a:avLst/>
          </a:prstGeom>
        </p:spPr>
      </p:pic>
    </p:spTree>
    <p:extLst>
      <p:ext uri="{BB962C8B-B14F-4D97-AF65-F5344CB8AC3E}">
        <p14:creationId xmlns:p14="http://schemas.microsoft.com/office/powerpoint/2010/main" val="1667494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稽核管理</a:t>
            </a:r>
          </a:p>
        </p:txBody>
      </p:sp>
    </p:spTree>
    <p:extLst>
      <p:ext uri="{BB962C8B-B14F-4D97-AF65-F5344CB8AC3E}">
        <p14:creationId xmlns:p14="http://schemas.microsoft.com/office/powerpoint/2010/main" val="2229239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7B56-08D5-50BC-88F2-458B8A7B5128}"/>
              </a:ext>
            </a:extLst>
          </p:cNvPr>
          <p:cNvSpPr>
            <a:spLocks noGrp="1"/>
          </p:cNvSpPr>
          <p:nvPr>
            <p:ph type="title"/>
          </p:nvPr>
        </p:nvSpPr>
        <p:spPr>
          <a:xfrm>
            <a:off x="406400" y="372981"/>
            <a:ext cx="11379200" cy="679396"/>
          </a:xfrm>
        </p:spPr>
        <p:txBody>
          <a:bodyPr anchor="ctr">
            <a:normAutofit/>
          </a:bodyPr>
          <a:lstStyle/>
          <a:p>
            <a:r>
              <a:rPr lang="zh-TW" altLang="en-US" dirty="0"/>
              <a:t>任務清單</a:t>
            </a:r>
          </a:p>
        </p:txBody>
      </p:sp>
      <p:sp>
        <p:nvSpPr>
          <p:cNvPr id="3" name="Content Placeholder 2">
            <a:extLst>
              <a:ext uri="{FF2B5EF4-FFF2-40B4-BE49-F238E27FC236}">
                <a16:creationId xmlns:a16="http://schemas.microsoft.com/office/drawing/2014/main" id="{B550BF6E-8A45-D7EC-A701-9045BBF8DB51}"/>
              </a:ext>
            </a:extLst>
          </p:cNvPr>
          <p:cNvSpPr>
            <a:spLocks noGrp="1"/>
          </p:cNvSpPr>
          <p:nvPr>
            <p:ph idx="1"/>
          </p:nvPr>
        </p:nvSpPr>
        <p:spPr>
          <a:xfrm>
            <a:off x="406399" y="1170462"/>
            <a:ext cx="11379199" cy="4953777"/>
          </a:xfrm>
        </p:spPr>
        <p:txBody>
          <a:bodyPr>
            <a:normAutofit/>
          </a:bodyPr>
          <a:lstStyle/>
          <a:p>
            <a:r>
              <a:rPr lang="zh-TW" altLang="en-US" dirty="0"/>
              <a:t>相關規格可參考</a:t>
            </a:r>
            <a:r>
              <a:rPr lang="en-US" altLang="zh-TW" dirty="0">
                <a:hlinkClick r:id="rId2"/>
              </a:rPr>
              <a:t>20240402-</a:t>
            </a:r>
            <a:r>
              <a:rPr lang="zh-TW" altLang="en-US" dirty="0">
                <a:hlinkClick r:id="rId2"/>
              </a:rPr>
              <a:t>設計規格書</a:t>
            </a:r>
            <a:r>
              <a:rPr lang="en-US" altLang="zh-TW" dirty="0">
                <a:hlinkClick r:id="rId2"/>
              </a:rPr>
              <a:t>-Release0.3-Sprint4-</a:t>
            </a:r>
            <a:r>
              <a:rPr lang="zh-TW" altLang="en-US" dirty="0">
                <a:hlinkClick r:id="rId2"/>
              </a:rPr>
              <a:t>稽核管理</a:t>
            </a:r>
            <a:r>
              <a:rPr lang="en-US" altLang="zh-TW" dirty="0">
                <a:hlinkClick r:id="rId2"/>
              </a:rPr>
              <a:t>.docx</a:t>
            </a:r>
            <a:endParaRPr lang="en-US" altLang="zh-TW" dirty="0"/>
          </a:p>
          <a:p>
            <a:r>
              <a:rPr lang="en-US" altLang="zh-TW" dirty="0"/>
              <a:t>API</a:t>
            </a:r>
            <a:r>
              <a:rPr lang="zh-TW" altLang="en-US" dirty="0"/>
              <a:t> 接口在 </a:t>
            </a:r>
            <a:r>
              <a:rPr lang="en-US" altLang="zh-TW" dirty="0" err="1"/>
              <a:t>AuditTaskController</a:t>
            </a:r>
            <a:endParaRPr lang="en-US" altLang="zh-TW" dirty="0"/>
          </a:p>
          <a:p>
            <a:r>
              <a:rPr lang="en-US" altLang="zh-TW" dirty="0"/>
              <a:t>Status</a:t>
            </a:r>
            <a:r>
              <a:rPr lang="zh-TW" altLang="en-US" dirty="0"/>
              <a:t>的</a:t>
            </a:r>
            <a:r>
              <a:rPr lang="en-US" altLang="zh-TW" dirty="0"/>
              <a:t>Enum</a:t>
            </a:r>
            <a:r>
              <a:rPr lang="zh-TW" altLang="en-US" dirty="0"/>
              <a:t>為</a:t>
            </a:r>
            <a:r>
              <a:rPr lang="en-US" altLang="zh-TW" dirty="0" err="1"/>
              <a:t>AuditTaskStatus</a:t>
            </a:r>
            <a:endParaRPr lang="en-US" altLang="zh-TW" dirty="0"/>
          </a:p>
          <a:p>
            <a:r>
              <a:rPr lang="zh-TW" altLang="en-US" dirty="0"/>
              <a:t>相關的 </a:t>
            </a:r>
            <a:r>
              <a:rPr lang="en-US" altLang="zh-TW" dirty="0"/>
              <a:t>table </a:t>
            </a:r>
            <a:r>
              <a:rPr lang="zh-TW" altLang="en-US" dirty="0"/>
              <a:t>如圖</a:t>
            </a:r>
            <a:endParaRPr lang="en-US" altLang="zh-TW" dirty="0"/>
          </a:p>
          <a:p>
            <a:endParaRPr lang="en-US" altLang="zh-TW" dirty="0"/>
          </a:p>
          <a:p>
            <a:endParaRPr lang="zh-TW" altLang="en-US" dirty="0"/>
          </a:p>
        </p:txBody>
      </p:sp>
      <p:pic>
        <p:nvPicPr>
          <p:cNvPr id="6" name="Picture 5">
            <a:extLst>
              <a:ext uri="{FF2B5EF4-FFF2-40B4-BE49-F238E27FC236}">
                <a16:creationId xmlns:a16="http://schemas.microsoft.com/office/drawing/2014/main" id="{60B622EE-908E-4167-1A8D-1BC671069D63}"/>
              </a:ext>
            </a:extLst>
          </p:cNvPr>
          <p:cNvPicPr>
            <a:picLocks noChangeAspect="1"/>
          </p:cNvPicPr>
          <p:nvPr/>
        </p:nvPicPr>
        <p:blipFill>
          <a:blip r:embed="rId3"/>
          <a:stretch>
            <a:fillRect/>
          </a:stretch>
        </p:blipFill>
        <p:spPr>
          <a:xfrm>
            <a:off x="2842934" y="2460522"/>
            <a:ext cx="8942664" cy="2752538"/>
          </a:xfrm>
          <a:prstGeom prst="rect">
            <a:avLst/>
          </a:prstGeom>
        </p:spPr>
      </p:pic>
    </p:spTree>
    <p:extLst>
      <p:ext uri="{BB962C8B-B14F-4D97-AF65-F5344CB8AC3E}">
        <p14:creationId xmlns:p14="http://schemas.microsoft.com/office/powerpoint/2010/main" val="3702550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7B56-08D5-50BC-88F2-458B8A7B5128}"/>
              </a:ext>
            </a:extLst>
          </p:cNvPr>
          <p:cNvSpPr>
            <a:spLocks noGrp="1"/>
          </p:cNvSpPr>
          <p:nvPr>
            <p:ph type="title"/>
          </p:nvPr>
        </p:nvSpPr>
        <p:spPr>
          <a:xfrm>
            <a:off x="406400" y="372981"/>
            <a:ext cx="11379200" cy="679396"/>
          </a:xfrm>
        </p:spPr>
        <p:txBody>
          <a:bodyPr anchor="ctr">
            <a:normAutofit/>
          </a:bodyPr>
          <a:lstStyle/>
          <a:p>
            <a:r>
              <a:rPr lang="zh-TW" altLang="en-US" dirty="0"/>
              <a:t>任務稽核</a:t>
            </a:r>
          </a:p>
        </p:txBody>
      </p:sp>
      <p:sp>
        <p:nvSpPr>
          <p:cNvPr id="3" name="Content Placeholder 2">
            <a:extLst>
              <a:ext uri="{FF2B5EF4-FFF2-40B4-BE49-F238E27FC236}">
                <a16:creationId xmlns:a16="http://schemas.microsoft.com/office/drawing/2014/main" id="{B550BF6E-8A45-D7EC-A701-9045BBF8DB51}"/>
              </a:ext>
            </a:extLst>
          </p:cNvPr>
          <p:cNvSpPr>
            <a:spLocks noGrp="1"/>
          </p:cNvSpPr>
          <p:nvPr>
            <p:ph idx="1"/>
          </p:nvPr>
        </p:nvSpPr>
        <p:spPr>
          <a:xfrm>
            <a:off x="406399" y="1170462"/>
            <a:ext cx="11379199" cy="4953777"/>
          </a:xfrm>
        </p:spPr>
        <p:txBody>
          <a:bodyPr>
            <a:normAutofit/>
          </a:bodyPr>
          <a:lstStyle/>
          <a:p>
            <a:r>
              <a:rPr lang="en-US" altLang="zh-TW" dirty="0"/>
              <a:t>API</a:t>
            </a:r>
            <a:r>
              <a:rPr lang="zh-TW" altLang="en-US" dirty="0"/>
              <a:t> 接口在 </a:t>
            </a:r>
            <a:r>
              <a:rPr lang="en-US" altLang="zh-TW" dirty="0" err="1"/>
              <a:t>AuditJobController</a:t>
            </a:r>
            <a:endParaRPr lang="en-US" altLang="zh-TW" dirty="0"/>
          </a:p>
          <a:p>
            <a:r>
              <a:rPr lang="en-US" altLang="zh-TW" dirty="0"/>
              <a:t>Job status</a:t>
            </a:r>
            <a:r>
              <a:rPr lang="zh-TW" altLang="en-US" dirty="0"/>
              <a:t>的</a:t>
            </a:r>
            <a:r>
              <a:rPr lang="en-US" altLang="zh-TW" dirty="0"/>
              <a:t>Enum</a:t>
            </a:r>
            <a:r>
              <a:rPr lang="zh-TW" altLang="en-US" dirty="0"/>
              <a:t>為</a:t>
            </a:r>
            <a:r>
              <a:rPr lang="en-US" altLang="zh-TW" dirty="0" err="1"/>
              <a:t>AuditJobStatus</a:t>
            </a:r>
            <a:endParaRPr lang="en-US" altLang="zh-TW" dirty="0"/>
          </a:p>
          <a:p>
            <a:r>
              <a:rPr lang="en-US" altLang="zh-TW" dirty="0"/>
              <a:t>Job detail status</a:t>
            </a:r>
            <a:r>
              <a:rPr lang="zh-TW" altLang="en-US" dirty="0"/>
              <a:t>的</a:t>
            </a:r>
            <a:r>
              <a:rPr lang="en-US" altLang="zh-TW" dirty="0"/>
              <a:t>Enum</a:t>
            </a:r>
            <a:r>
              <a:rPr lang="zh-TW" altLang="en-US" dirty="0"/>
              <a:t>為</a:t>
            </a:r>
            <a:r>
              <a:rPr lang="en-US" altLang="zh-TW" dirty="0" err="1"/>
              <a:t>AuditJobItemStatus</a:t>
            </a:r>
            <a:endParaRPr lang="en-US" altLang="zh-TW" dirty="0"/>
          </a:p>
          <a:p>
            <a:r>
              <a:rPr lang="zh-TW" altLang="en-US" dirty="0"/>
              <a:t>相關的 </a:t>
            </a:r>
            <a:r>
              <a:rPr lang="en-US" altLang="zh-TW" dirty="0"/>
              <a:t>table </a:t>
            </a:r>
            <a:r>
              <a:rPr lang="zh-TW" altLang="en-US" dirty="0"/>
              <a:t>如圖</a:t>
            </a:r>
            <a:endParaRPr lang="en-US" altLang="zh-TW" dirty="0"/>
          </a:p>
          <a:p>
            <a:endParaRPr lang="en-US" altLang="zh-TW" dirty="0"/>
          </a:p>
          <a:p>
            <a:endParaRPr lang="zh-TW" altLang="en-US" dirty="0"/>
          </a:p>
        </p:txBody>
      </p:sp>
      <p:pic>
        <p:nvPicPr>
          <p:cNvPr id="8" name="Picture 7">
            <a:extLst>
              <a:ext uri="{FF2B5EF4-FFF2-40B4-BE49-F238E27FC236}">
                <a16:creationId xmlns:a16="http://schemas.microsoft.com/office/drawing/2014/main" id="{D80ADEC4-EDED-3E1C-C6EE-B86C75740B9D}"/>
              </a:ext>
            </a:extLst>
          </p:cNvPr>
          <p:cNvPicPr>
            <a:picLocks noChangeAspect="1"/>
          </p:cNvPicPr>
          <p:nvPr/>
        </p:nvPicPr>
        <p:blipFill>
          <a:blip r:embed="rId2"/>
          <a:stretch>
            <a:fillRect/>
          </a:stretch>
        </p:blipFill>
        <p:spPr>
          <a:xfrm>
            <a:off x="5988287" y="1111739"/>
            <a:ext cx="4533353" cy="5434642"/>
          </a:xfrm>
          <a:prstGeom prst="rect">
            <a:avLst/>
          </a:prstGeom>
        </p:spPr>
      </p:pic>
    </p:spTree>
    <p:extLst>
      <p:ext uri="{BB962C8B-B14F-4D97-AF65-F5344CB8AC3E}">
        <p14:creationId xmlns:p14="http://schemas.microsoft.com/office/powerpoint/2010/main" val="7871341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4E44-1697-A4F8-83D3-5C100556DE00}"/>
              </a:ext>
            </a:extLst>
          </p:cNvPr>
          <p:cNvSpPr>
            <a:spLocks noGrp="1"/>
          </p:cNvSpPr>
          <p:nvPr>
            <p:ph type="title"/>
          </p:nvPr>
        </p:nvSpPr>
        <p:spPr/>
        <p:txBody>
          <a:bodyPr/>
          <a:lstStyle/>
          <a:p>
            <a:r>
              <a:rPr lang="zh-TW" altLang="en-US" dirty="0"/>
              <a:t>缺失單</a:t>
            </a:r>
          </a:p>
        </p:txBody>
      </p:sp>
      <p:sp>
        <p:nvSpPr>
          <p:cNvPr id="3" name="Content Placeholder 2">
            <a:extLst>
              <a:ext uri="{FF2B5EF4-FFF2-40B4-BE49-F238E27FC236}">
                <a16:creationId xmlns:a16="http://schemas.microsoft.com/office/drawing/2014/main" id="{534D8603-6970-F187-6872-CE9CA6888CEB}"/>
              </a:ext>
            </a:extLst>
          </p:cNvPr>
          <p:cNvSpPr>
            <a:spLocks noGrp="1"/>
          </p:cNvSpPr>
          <p:nvPr>
            <p:ph idx="1"/>
          </p:nvPr>
        </p:nvSpPr>
        <p:spPr/>
        <p:txBody>
          <a:bodyPr/>
          <a:lstStyle/>
          <a:p>
            <a:r>
              <a:rPr lang="en-US" altLang="zh-TW" dirty="0"/>
              <a:t>API </a:t>
            </a:r>
            <a:r>
              <a:rPr lang="zh-TW" altLang="en-US" dirty="0"/>
              <a:t>接口在 </a:t>
            </a:r>
            <a:r>
              <a:rPr lang="en-US" altLang="zh-TW" dirty="0" err="1"/>
              <a:t>AuditDeficiencyController</a:t>
            </a:r>
            <a:endParaRPr lang="en-US" altLang="zh-TW" dirty="0"/>
          </a:p>
          <a:p>
            <a:r>
              <a:rPr lang="en-US" altLang="zh-TW" dirty="0"/>
              <a:t>Status</a:t>
            </a:r>
            <a:r>
              <a:rPr lang="zh-TW" altLang="en-US" dirty="0"/>
              <a:t>的</a:t>
            </a:r>
            <a:r>
              <a:rPr lang="en-US" altLang="zh-TW" dirty="0"/>
              <a:t>Enum</a:t>
            </a:r>
            <a:r>
              <a:rPr lang="zh-TW" altLang="en-US" dirty="0"/>
              <a:t>為</a:t>
            </a:r>
            <a:r>
              <a:rPr lang="en-US" altLang="zh-TW" dirty="0" err="1"/>
              <a:t>AuditDeficiencyStatus</a:t>
            </a:r>
            <a:endParaRPr lang="en-US" altLang="zh-TW" dirty="0"/>
          </a:p>
          <a:p>
            <a:r>
              <a:rPr lang="zh-TW" altLang="en-US" dirty="0"/>
              <a:t>相關的 </a:t>
            </a:r>
            <a:r>
              <a:rPr lang="en-US" altLang="zh-TW" dirty="0"/>
              <a:t>table </a:t>
            </a:r>
            <a:r>
              <a:rPr lang="zh-TW" altLang="en-US" dirty="0"/>
              <a:t>如圖</a:t>
            </a:r>
          </a:p>
        </p:txBody>
      </p:sp>
      <p:pic>
        <p:nvPicPr>
          <p:cNvPr id="6" name="Picture 5">
            <a:extLst>
              <a:ext uri="{FF2B5EF4-FFF2-40B4-BE49-F238E27FC236}">
                <a16:creationId xmlns:a16="http://schemas.microsoft.com/office/drawing/2014/main" id="{9A85E3E3-F3FD-0FE0-8CEA-AB93BCCDDDF6}"/>
              </a:ext>
            </a:extLst>
          </p:cNvPr>
          <p:cNvPicPr>
            <a:picLocks noChangeAspect="1"/>
          </p:cNvPicPr>
          <p:nvPr/>
        </p:nvPicPr>
        <p:blipFill>
          <a:blip r:embed="rId2"/>
          <a:stretch>
            <a:fillRect/>
          </a:stretch>
        </p:blipFill>
        <p:spPr>
          <a:xfrm>
            <a:off x="4949505" y="2016300"/>
            <a:ext cx="6836095" cy="3796098"/>
          </a:xfrm>
          <a:prstGeom prst="rect">
            <a:avLst/>
          </a:prstGeom>
        </p:spPr>
      </p:pic>
    </p:spTree>
    <p:extLst>
      <p:ext uri="{BB962C8B-B14F-4D97-AF65-F5344CB8AC3E}">
        <p14:creationId xmlns:p14="http://schemas.microsoft.com/office/powerpoint/2010/main" val="9870075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係數資料庫</a:t>
            </a:r>
          </a:p>
        </p:txBody>
      </p:sp>
    </p:spTree>
    <p:extLst>
      <p:ext uri="{BB962C8B-B14F-4D97-AF65-F5344CB8AC3E}">
        <p14:creationId xmlns:p14="http://schemas.microsoft.com/office/powerpoint/2010/main" val="306860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E7B56-08D5-50BC-88F2-458B8A7B5128}"/>
              </a:ext>
            </a:extLst>
          </p:cNvPr>
          <p:cNvSpPr>
            <a:spLocks noGrp="1"/>
          </p:cNvSpPr>
          <p:nvPr>
            <p:ph type="title"/>
          </p:nvPr>
        </p:nvSpPr>
        <p:spPr>
          <a:xfrm>
            <a:off x="406400" y="372981"/>
            <a:ext cx="11379200" cy="679396"/>
          </a:xfrm>
        </p:spPr>
        <p:txBody>
          <a:bodyPr anchor="ctr">
            <a:normAutofit/>
          </a:bodyPr>
          <a:lstStyle/>
          <a:p>
            <a:r>
              <a:rPr lang="en-US" altLang="zh-TW" dirty="0"/>
              <a:t>GHG</a:t>
            </a:r>
            <a:r>
              <a:rPr lang="zh-TW" altLang="en-US" dirty="0"/>
              <a:t> 係數列表</a:t>
            </a:r>
          </a:p>
        </p:txBody>
      </p:sp>
      <p:sp>
        <p:nvSpPr>
          <p:cNvPr id="3" name="Content Placeholder 2">
            <a:extLst>
              <a:ext uri="{FF2B5EF4-FFF2-40B4-BE49-F238E27FC236}">
                <a16:creationId xmlns:a16="http://schemas.microsoft.com/office/drawing/2014/main" id="{B550BF6E-8A45-D7EC-A701-9045BBF8DB51}"/>
              </a:ext>
            </a:extLst>
          </p:cNvPr>
          <p:cNvSpPr>
            <a:spLocks noGrp="1"/>
          </p:cNvSpPr>
          <p:nvPr>
            <p:ph idx="1"/>
          </p:nvPr>
        </p:nvSpPr>
        <p:spPr>
          <a:xfrm>
            <a:off x="406399" y="1170462"/>
            <a:ext cx="11379199" cy="4953777"/>
          </a:xfrm>
        </p:spPr>
        <p:txBody>
          <a:bodyPr>
            <a:normAutofit/>
          </a:bodyPr>
          <a:lstStyle/>
          <a:p>
            <a:r>
              <a:rPr lang="en-US" altLang="zh-TW" dirty="0"/>
              <a:t>API</a:t>
            </a:r>
            <a:r>
              <a:rPr lang="zh-TW" altLang="en-US" dirty="0"/>
              <a:t> 接口在 </a:t>
            </a:r>
            <a:r>
              <a:rPr lang="en-US" altLang="zh-TW" dirty="0" err="1"/>
              <a:t>EmissionFactorTableController</a:t>
            </a:r>
            <a:endParaRPr lang="en-US" altLang="zh-TW" dirty="0"/>
          </a:p>
          <a:p>
            <a:r>
              <a:rPr lang="en-US" altLang="zh-TW" dirty="0" err="1"/>
              <a:t>emission_factor_type</a:t>
            </a:r>
            <a:r>
              <a:rPr lang="zh-TW" altLang="en-US" dirty="0"/>
              <a:t> 為係數主表，</a:t>
            </a:r>
            <a:r>
              <a:rPr lang="en-US" altLang="zh-TW" dirty="0" err="1"/>
              <a:t>emission_factor_table</a:t>
            </a:r>
            <a:br>
              <a:rPr lang="en-US" altLang="zh-TW" dirty="0"/>
            </a:br>
            <a:r>
              <a:rPr lang="zh-TW" altLang="en-US" dirty="0"/>
              <a:t>為各係數版本，預設列表中是顯示最新版本，原燃物料或產品</a:t>
            </a:r>
            <a:br>
              <a:rPr lang="en-US" altLang="zh-TW" dirty="0"/>
            </a:br>
            <a:r>
              <a:rPr lang="zh-TW" altLang="en-US" dirty="0"/>
              <a:t>係數是綁定在</a:t>
            </a:r>
            <a:r>
              <a:rPr lang="en-US" altLang="zh-TW" dirty="0" err="1"/>
              <a:t>emission_factor_table</a:t>
            </a:r>
            <a:endParaRPr lang="en-US" altLang="zh-TW" dirty="0"/>
          </a:p>
          <a:p>
            <a:r>
              <a:rPr lang="zh-TW" altLang="en-US" dirty="0"/>
              <a:t>相關的 </a:t>
            </a:r>
            <a:r>
              <a:rPr lang="en-US" altLang="zh-TW" dirty="0"/>
              <a:t>table </a:t>
            </a:r>
            <a:r>
              <a:rPr lang="zh-TW" altLang="en-US" dirty="0"/>
              <a:t>如圖</a:t>
            </a:r>
            <a:endParaRPr lang="en-US" altLang="zh-TW" dirty="0"/>
          </a:p>
          <a:p>
            <a:endParaRPr lang="en-US" altLang="zh-TW" dirty="0"/>
          </a:p>
          <a:p>
            <a:endParaRPr lang="zh-TW" altLang="en-US" dirty="0"/>
          </a:p>
        </p:txBody>
      </p:sp>
      <p:pic>
        <p:nvPicPr>
          <p:cNvPr id="5" name="Picture 4">
            <a:extLst>
              <a:ext uri="{FF2B5EF4-FFF2-40B4-BE49-F238E27FC236}">
                <a16:creationId xmlns:a16="http://schemas.microsoft.com/office/drawing/2014/main" id="{17E7E323-73FE-FF3A-F0A4-939340F76435}"/>
              </a:ext>
            </a:extLst>
          </p:cNvPr>
          <p:cNvPicPr>
            <a:picLocks noChangeAspect="1"/>
          </p:cNvPicPr>
          <p:nvPr/>
        </p:nvPicPr>
        <p:blipFill>
          <a:blip r:embed="rId2"/>
          <a:stretch>
            <a:fillRect/>
          </a:stretch>
        </p:blipFill>
        <p:spPr>
          <a:xfrm>
            <a:off x="7975066" y="1170462"/>
            <a:ext cx="3810532" cy="5134692"/>
          </a:xfrm>
          <a:prstGeom prst="rect">
            <a:avLst/>
          </a:prstGeom>
        </p:spPr>
      </p:pic>
      <p:pic>
        <p:nvPicPr>
          <p:cNvPr id="8" name="Picture 7">
            <a:extLst>
              <a:ext uri="{FF2B5EF4-FFF2-40B4-BE49-F238E27FC236}">
                <a16:creationId xmlns:a16="http://schemas.microsoft.com/office/drawing/2014/main" id="{05569F1F-9259-2A6E-4919-47DDBD86FE1E}"/>
              </a:ext>
            </a:extLst>
          </p:cNvPr>
          <p:cNvPicPr>
            <a:picLocks noChangeAspect="1"/>
          </p:cNvPicPr>
          <p:nvPr/>
        </p:nvPicPr>
        <p:blipFill>
          <a:blip r:embed="rId3"/>
          <a:stretch>
            <a:fillRect/>
          </a:stretch>
        </p:blipFill>
        <p:spPr>
          <a:xfrm>
            <a:off x="2461157" y="3628005"/>
            <a:ext cx="5513909" cy="1699409"/>
          </a:xfrm>
          <a:prstGeom prst="rect">
            <a:avLst/>
          </a:prstGeom>
        </p:spPr>
      </p:pic>
    </p:spTree>
    <p:extLst>
      <p:ext uri="{BB962C8B-B14F-4D97-AF65-F5344CB8AC3E}">
        <p14:creationId xmlns:p14="http://schemas.microsoft.com/office/powerpoint/2010/main" val="2448227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權限管理</a:t>
            </a:r>
          </a:p>
        </p:txBody>
      </p:sp>
    </p:spTree>
    <p:extLst>
      <p:ext uri="{BB962C8B-B14F-4D97-AF65-F5344CB8AC3E}">
        <p14:creationId xmlns:p14="http://schemas.microsoft.com/office/powerpoint/2010/main" val="3012913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4E44-1697-A4F8-83D3-5C100556DE00}"/>
              </a:ext>
            </a:extLst>
          </p:cNvPr>
          <p:cNvSpPr>
            <a:spLocks noGrp="1"/>
          </p:cNvSpPr>
          <p:nvPr>
            <p:ph type="title"/>
          </p:nvPr>
        </p:nvSpPr>
        <p:spPr/>
        <p:txBody>
          <a:bodyPr/>
          <a:lstStyle/>
          <a:p>
            <a:r>
              <a:rPr lang="zh-TW" altLang="en-US" dirty="0"/>
              <a:t>權限管理</a:t>
            </a:r>
          </a:p>
        </p:txBody>
      </p:sp>
      <p:sp>
        <p:nvSpPr>
          <p:cNvPr id="3" name="Content Placeholder 2">
            <a:extLst>
              <a:ext uri="{FF2B5EF4-FFF2-40B4-BE49-F238E27FC236}">
                <a16:creationId xmlns:a16="http://schemas.microsoft.com/office/drawing/2014/main" id="{534D8603-6970-F187-6872-CE9CA6888CEB}"/>
              </a:ext>
            </a:extLst>
          </p:cNvPr>
          <p:cNvSpPr>
            <a:spLocks noGrp="1"/>
          </p:cNvSpPr>
          <p:nvPr>
            <p:ph idx="1"/>
          </p:nvPr>
        </p:nvSpPr>
        <p:spPr/>
        <p:txBody>
          <a:bodyPr/>
          <a:lstStyle/>
          <a:p>
            <a:r>
              <a:rPr lang="zh-TW" altLang="en-US" dirty="0"/>
              <a:t>以角色綁定 </a:t>
            </a:r>
            <a:r>
              <a:rPr lang="en-US" altLang="zh-TW" dirty="0"/>
              <a:t>permission </a:t>
            </a:r>
            <a:r>
              <a:rPr lang="zh-TW" altLang="en-US" dirty="0"/>
              <a:t>來決定不同的角色可以針對那些物件操作</a:t>
            </a:r>
            <a:endParaRPr lang="en-US" altLang="zh-TW" dirty="0"/>
          </a:p>
          <a:p>
            <a:r>
              <a:rPr lang="zh-TW" altLang="en-US" dirty="0"/>
              <a:t>角色包含</a:t>
            </a:r>
            <a:r>
              <a:rPr lang="zh-TW" altLang="en-US" dirty="0">
                <a:solidFill>
                  <a:srgbClr val="FF0000"/>
                </a:solidFill>
              </a:rPr>
              <a:t>系統角色</a:t>
            </a:r>
            <a:r>
              <a:rPr lang="zh-TW" altLang="en-US" dirty="0"/>
              <a:t>及</a:t>
            </a:r>
            <a:r>
              <a:rPr lang="zh-TW" altLang="en-US" dirty="0">
                <a:solidFill>
                  <a:srgbClr val="FF0000"/>
                </a:solidFill>
              </a:rPr>
              <a:t>據點角色</a:t>
            </a:r>
            <a:endParaRPr lang="en-US" altLang="zh-TW" dirty="0">
              <a:solidFill>
                <a:srgbClr val="FF0000"/>
              </a:solidFill>
            </a:endParaRPr>
          </a:p>
          <a:p>
            <a:r>
              <a:rPr lang="zh-TW" altLang="en-US" dirty="0"/>
              <a:t>系統角色為使用者自行建立</a:t>
            </a:r>
            <a:endParaRPr lang="en-US" altLang="zh-TW" dirty="0"/>
          </a:p>
          <a:p>
            <a:r>
              <a:rPr lang="zh-TW" altLang="en-US" dirty="0"/>
              <a:t>據點角色包含區域管理員 </a:t>
            </a:r>
            <a:r>
              <a:rPr lang="en-US" altLang="zh-TW" dirty="0"/>
              <a:t>(</a:t>
            </a:r>
            <a:r>
              <a:rPr lang="en-US" altLang="zh-TW" dirty="0" err="1"/>
              <a:t>regionAdmin</a:t>
            </a:r>
            <a:r>
              <a:rPr lang="en-US" altLang="zh-TW" dirty="0"/>
              <a:t>)</a:t>
            </a:r>
            <a:r>
              <a:rPr lang="zh-TW" altLang="en-US" dirty="0"/>
              <a:t>、據點管理員 </a:t>
            </a:r>
            <a:r>
              <a:rPr lang="en-US" altLang="zh-TW" dirty="0"/>
              <a:t>(</a:t>
            </a:r>
            <a:r>
              <a:rPr lang="en-US" altLang="zh-TW" dirty="0" err="1"/>
              <a:t>siteAdmin</a:t>
            </a:r>
            <a:r>
              <a:rPr lang="en-US" altLang="zh-TW" dirty="0"/>
              <a:t>)</a:t>
            </a:r>
            <a:r>
              <a:rPr lang="zh-TW" altLang="en-US" dirty="0"/>
              <a:t>、簽核人員 </a:t>
            </a:r>
            <a:r>
              <a:rPr lang="en-US" altLang="zh-TW" dirty="0"/>
              <a:t>(</a:t>
            </a:r>
            <a:r>
              <a:rPr lang="en-US" altLang="zh-TW" dirty="0" err="1"/>
              <a:t>signOffPersonnel</a:t>
            </a:r>
            <a:r>
              <a:rPr lang="en-US" altLang="zh-TW" dirty="0"/>
              <a:t>)</a:t>
            </a:r>
            <a:r>
              <a:rPr lang="zh-TW" altLang="en-US" dirty="0"/>
              <a:t>、填寫人員 </a:t>
            </a:r>
            <a:r>
              <a:rPr lang="en-US" altLang="zh-TW" dirty="0"/>
              <a:t>(</a:t>
            </a:r>
            <a:r>
              <a:rPr lang="en-US" altLang="zh-TW" dirty="0" err="1"/>
              <a:t>fillInPersonnel</a:t>
            </a:r>
            <a:r>
              <a:rPr lang="en-US" altLang="zh-TW" dirty="0"/>
              <a:t>)</a:t>
            </a:r>
            <a:r>
              <a:rPr lang="zh-TW" altLang="en-US" dirty="0"/>
              <a:t>、稽核人員 </a:t>
            </a:r>
            <a:r>
              <a:rPr lang="en-US" altLang="zh-TW" dirty="0"/>
              <a:t>(</a:t>
            </a:r>
            <a:r>
              <a:rPr lang="en-US" altLang="zh-TW" dirty="0" err="1"/>
              <a:t>auditPersonnel</a:t>
            </a:r>
            <a:r>
              <a:rPr lang="en-US" altLang="zh-TW" dirty="0"/>
              <a:t>)</a:t>
            </a:r>
            <a:r>
              <a:rPr lang="zh-TW" altLang="en-US" dirty="0"/>
              <a:t>及修復人員 </a:t>
            </a:r>
            <a:r>
              <a:rPr lang="en-US" altLang="zh-TW" dirty="0"/>
              <a:t>(</a:t>
            </a:r>
            <a:r>
              <a:rPr lang="en-US" altLang="zh-TW" dirty="0" err="1"/>
              <a:t>repairPersonnel</a:t>
            </a:r>
            <a:r>
              <a:rPr lang="en-US" altLang="zh-TW" dirty="0"/>
              <a:t>)</a:t>
            </a:r>
            <a:r>
              <a:rPr lang="zh-TW" altLang="en-US" dirty="0"/>
              <a:t>，存放在 </a:t>
            </a:r>
            <a:r>
              <a:rPr lang="en-US" altLang="zh-TW" dirty="0"/>
              <a:t>table </a:t>
            </a:r>
            <a:r>
              <a:rPr lang="en-US" altLang="zh-TW" dirty="0" err="1"/>
              <a:t>ocf.site_role</a:t>
            </a:r>
            <a:endParaRPr lang="en-US" altLang="zh-TW" dirty="0"/>
          </a:p>
          <a:p>
            <a:r>
              <a:rPr lang="zh-TW" altLang="en-US" dirty="0"/>
              <a:t>物件的</a:t>
            </a:r>
            <a:r>
              <a:rPr lang="en-US" altLang="zh-TW" dirty="0"/>
              <a:t>Enum</a:t>
            </a:r>
            <a:r>
              <a:rPr lang="zh-TW" altLang="en-US" dirty="0"/>
              <a:t>為</a:t>
            </a:r>
            <a:r>
              <a:rPr lang="en-US" altLang="zh-TW" dirty="0" err="1"/>
              <a:t>PermissionObject</a:t>
            </a:r>
            <a:r>
              <a:rPr lang="zh-TW" altLang="en-US" dirty="0"/>
              <a:t>，行為的</a:t>
            </a:r>
            <a:r>
              <a:rPr lang="en-US" altLang="zh-TW" dirty="0"/>
              <a:t>Enum</a:t>
            </a:r>
            <a:r>
              <a:rPr lang="zh-TW" altLang="en-US" dirty="0"/>
              <a:t>為</a:t>
            </a:r>
            <a:r>
              <a:rPr lang="en-US" altLang="zh-TW" dirty="0" err="1"/>
              <a:t>PermissionOperation</a:t>
            </a:r>
            <a:endParaRPr lang="en-US" altLang="zh-TW" dirty="0"/>
          </a:p>
          <a:p>
            <a:r>
              <a:rPr lang="zh-TW" altLang="en-US" dirty="0"/>
              <a:t>檢核方式以在 </a:t>
            </a:r>
            <a:r>
              <a:rPr lang="en-US" altLang="zh-TW" dirty="0"/>
              <a:t>Controller </a:t>
            </a:r>
            <a:r>
              <a:rPr lang="zh-TW" altLang="en-US" dirty="0"/>
              <a:t>需檢核的 </a:t>
            </a:r>
            <a:r>
              <a:rPr lang="en-US" altLang="zh-TW" dirty="0"/>
              <a:t>API</a:t>
            </a:r>
            <a:r>
              <a:rPr lang="zh-TW" altLang="en-US" dirty="0"/>
              <a:t> 加上 </a:t>
            </a:r>
            <a:r>
              <a:rPr lang="en-US" altLang="zh-TW" dirty="0"/>
              <a:t>@RequiredAuthorization</a:t>
            </a:r>
            <a:r>
              <a:rPr lang="zh-TW" altLang="en-US" dirty="0"/>
              <a:t>，會透過 </a:t>
            </a:r>
            <a:r>
              <a:rPr lang="en-US" altLang="zh-TW" dirty="0"/>
              <a:t>Aspect </a:t>
            </a:r>
            <a:r>
              <a:rPr lang="zh-TW" altLang="en-US" dirty="0"/>
              <a:t>去取得使用者針對此物件有哪些權限，並檢查傳入的檢查目標是否在範圍內</a:t>
            </a:r>
            <a:endParaRPr lang="en-US" altLang="zh-TW" dirty="0"/>
          </a:p>
          <a:p>
            <a:r>
              <a:rPr lang="zh-TW" altLang="en-US" dirty="0"/>
              <a:t>列表的</a:t>
            </a:r>
            <a:r>
              <a:rPr lang="zh-TW" altLang="en-US" dirty="0">
                <a:solidFill>
                  <a:srgbClr val="FF0000"/>
                </a:solidFill>
              </a:rPr>
              <a:t>功能</a:t>
            </a:r>
            <a:r>
              <a:rPr lang="en-US" altLang="zh-TW" dirty="0">
                <a:solidFill>
                  <a:srgbClr val="FF0000"/>
                </a:solidFill>
              </a:rPr>
              <a:t>/</a:t>
            </a:r>
            <a:r>
              <a:rPr lang="zh-TW" altLang="en-US" dirty="0">
                <a:solidFill>
                  <a:srgbClr val="FF0000"/>
                </a:solidFill>
              </a:rPr>
              <a:t>動作</a:t>
            </a:r>
            <a:r>
              <a:rPr lang="zh-TW" altLang="en-US" dirty="0"/>
              <a:t>部分則透過 </a:t>
            </a:r>
            <a:r>
              <a:rPr lang="en-US" altLang="zh-TW" dirty="0" err="1"/>
              <a:t>AuthUtil</a:t>
            </a:r>
            <a:r>
              <a:rPr lang="zh-TW" altLang="en-US" dirty="0"/>
              <a:t> 取得使用者針對此物件有權限的目標，分別有哪些行為權限，進而在放到回傳結果的 </a:t>
            </a:r>
            <a:r>
              <a:rPr lang="en-US" altLang="zh-TW" dirty="0"/>
              <a:t>privilege</a:t>
            </a:r>
            <a:r>
              <a:rPr lang="zh-TW" altLang="en-US" dirty="0"/>
              <a:t> 中供前端判斷</a:t>
            </a:r>
          </a:p>
        </p:txBody>
      </p:sp>
    </p:spTree>
    <p:extLst>
      <p:ext uri="{BB962C8B-B14F-4D97-AF65-F5344CB8AC3E}">
        <p14:creationId xmlns:p14="http://schemas.microsoft.com/office/powerpoint/2010/main" val="29411169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9D2C-6915-B2CF-F733-932C377B8C0F}"/>
              </a:ext>
            </a:extLst>
          </p:cNvPr>
          <p:cNvSpPr>
            <a:spLocks noGrp="1"/>
          </p:cNvSpPr>
          <p:nvPr>
            <p:ph type="title"/>
          </p:nvPr>
        </p:nvSpPr>
        <p:spPr/>
        <p:txBody>
          <a:bodyPr/>
          <a:lstStyle/>
          <a:p>
            <a:r>
              <a:rPr lang="zh-TW" altLang="en-US" dirty="0"/>
              <a:t>權限管理 </a:t>
            </a:r>
            <a:r>
              <a:rPr lang="en-US" altLang="zh-TW" dirty="0"/>
              <a:t>–</a:t>
            </a:r>
            <a:r>
              <a:rPr lang="zh-TW" altLang="en-US" dirty="0"/>
              <a:t> 物件</a:t>
            </a:r>
          </a:p>
        </p:txBody>
      </p:sp>
      <p:graphicFrame>
        <p:nvGraphicFramePr>
          <p:cNvPr id="7" name="Table 7">
            <a:extLst>
              <a:ext uri="{FF2B5EF4-FFF2-40B4-BE49-F238E27FC236}">
                <a16:creationId xmlns:a16="http://schemas.microsoft.com/office/drawing/2014/main" id="{2CA03E01-D3FC-312F-24D1-C14E29762EFA}"/>
              </a:ext>
            </a:extLst>
          </p:cNvPr>
          <p:cNvGraphicFramePr>
            <a:graphicFrameLocks noGrp="1"/>
          </p:cNvGraphicFramePr>
          <p:nvPr>
            <p:ph idx="1"/>
            <p:extLst>
              <p:ext uri="{D42A27DB-BD31-4B8C-83A1-F6EECF244321}">
                <p14:modId xmlns:p14="http://schemas.microsoft.com/office/powerpoint/2010/main" val="1990707061"/>
              </p:ext>
            </p:extLst>
          </p:nvPr>
        </p:nvGraphicFramePr>
        <p:xfrm>
          <a:off x="406399" y="1052377"/>
          <a:ext cx="3427369" cy="5191760"/>
        </p:xfrm>
        <a:graphic>
          <a:graphicData uri="http://schemas.openxmlformats.org/drawingml/2006/table">
            <a:tbl>
              <a:tblPr firstRow="1" bandRow="1">
                <a:tableStyleId>{5C22544A-7EE6-4342-B048-85BDC9FD1C3A}</a:tableStyleId>
              </a:tblPr>
              <a:tblGrid>
                <a:gridCol w="1497902">
                  <a:extLst>
                    <a:ext uri="{9D8B030D-6E8A-4147-A177-3AD203B41FA5}">
                      <a16:colId xmlns:a16="http://schemas.microsoft.com/office/drawing/2014/main" val="2448150674"/>
                    </a:ext>
                  </a:extLst>
                </a:gridCol>
                <a:gridCol w="1929467">
                  <a:extLst>
                    <a:ext uri="{9D8B030D-6E8A-4147-A177-3AD203B41FA5}">
                      <a16:colId xmlns:a16="http://schemas.microsoft.com/office/drawing/2014/main" val="327663412"/>
                    </a:ext>
                  </a:extLst>
                </a:gridCol>
              </a:tblGrid>
              <a:tr h="370840">
                <a:tc>
                  <a:txBody>
                    <a:bodyPr/>
                    <a:lstStyle/>
                    <a:p>
                      <a:pPr algn="l" fontAlgn="ctr"/>
                      <a:r>
                        <a:rPr lang="en-US" sz="1100" b="1" i="0" u="none" strike="noStrike" dirty="0">
                          <a:solidFill>
                            <a:srgbClr val="FFFFFF"/>
                          </a:solidFill>
                          <a:effectLst/>
                          <a:latin typeface="新細明體" panose="02020500000000000000" pitchFamily="18" charset="-120"/>
                          <a:ea typeface="新細明體" panose="02020500000000000000" pitchFamily="18" charset="-120"/>
                        </a:rPr>
                        <a:t>object</a:t>
                      </a:r>
                    </a:p>
                  </a:txBody>
                  <a:tcPr marL="9525" marR="9525" marT="9525" marB="0" anchor="ctr"/>
                </a:tc>
                <a:tc>
                  <a:txBody>
                    <a:bodyPr/>
                    <a:lstStyle/>
                    <a:p>
                      <a:pPr algn="l" fontAlgn="ctr"/>
                      <a:r>
                        <a:rPr lang="zh-TW" altLang="en-US" sz="1100" b="1" i="0" u="none" strike="noStrike" dirty="0">
                          <a:solidFill>
                            <a:srgbClr val="FFFFFF"/>
                          </a:solidFill>
                          <a:effectLst/>
                          <a:latin typeface="新細明體" panose="02020500000000000000" pitchFamily="18" charset="-120"/>
                          <a:ea typeface="新細明體" panose="02020500000000000000" pitchFamily="18" charset="-120"/>
                        </a:rPr>
                        <a:t>描述</a:t>
                      </a:r>
                      <a:endParaRPr lang="en-US" sz="1100" b="1" i="0" u="none" strike="noStrike" dirty="0">
                        <a:solidFill>
                          <a:srgbClr val="FFFFFF"/>
                        </a:solidFill>
                        <a:effectLst/>
                        <a:latin typeface="新細明體" panose="02020500000000000000" pitchFamily="18" charset="-120"/>
                        <a:ea typeface="新細明體" panose="02020500000000000000" pitchFamily="18" charset="-120"/>
                      </a:endParaRPr>
                    </a:p>
                  </a:txBody>
                  <a:tcPr marL="9525" marR="9525" marT="9525" marB="0" anchor="ctr"/>
                </a:tc>
                <a:extLst>
                  <a:ext uri="{0D108BD9-81ED-4DB2-BD59-A6C34878D82A}">
                    <a16:rowId xmlns:a16="http://schemas.microsoft.com/office/drawing/2014/main" val="217788162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region</a:t>
                      </a: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區域</a:t>
                      </a:r>
                    </a:p>
                  </a:txBody>
                  <a:tcPr marL="9525" marR="9525" marT="9525" marB="0" anchor="ctr"/>
                </a:tc>
                <a:extLst>
                  <a:ext uri="{0D108BD9-81ED-4DB2-BD59-A6C34878D82A}">
                    <a16:rowId xmlns:a16="http://schemas.microsoft.com/office/drawing/2014/main" val="753474642"/>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site</a:t>
                      </a: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據點</a:t>
                      </a:r>
                    </a:p>
                  </a:txBody>
                  <a:tcPr marL="9525" marR="9525" marT="9525" marB="0" anchor="ctr"/>
                </a:tc>
                <a:extLst>
                  <a:ext uri="{0D108BD9-81ED-4DB2-BD59-A6C34878D82A}">
                    <a16:rowId xmlns:a16="http://schemas.microsoft.com/office/drawing/2014/main" val="1832142468"/>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siteData</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據點內資料</a:t>
                      </a:r>
                    </a:p>
                  </a:txBody>
                  <a:tcPr marL="9525" marR="9525" marT="9525" marB="0" anchor="ctr"/>
                </a:tc>
                <a:extLst>
                  <a:ext uri="{0D108BD9-81ED-4DB2-BD59-A6C34878D82A}">
                    <a16:rowId xmlns:a16="http://schemas.microsoft.com/office/drawing/2014/main" val="374285030"/>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equipment</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設備</a:t>
                      </a:r>
                    </a:p>
                  </a:txBody>
                  <a:tcPr marL="9525" marR="9525" marT="9525" marB="0" anchor="ctr"/>
                </a:tc>
                <a:extLst>
                  <a:ext uri="{0D108BD9-81ED-4DB2-BD59-A6C34878D82A}">
                    <a16:rowId xmlns:a16="http://schemas.microsoft.com/office/drawing/2014/main" val="4084844214"/>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activity</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活動</a:t>
                      </a:r>
                    </a:p>
                  </a:txBody>
                  <a:tcPr marL="9525" marR="9525" marT="9525" marB="0" anchor="ctr"/>
                </a:tc>
                <a:extLst>
                  <a:ext uri="{0D108BD9-81ED-4DB2-BD59-A6C34878D82A}">
                    <a16:rowId xmlns:a16="http://schemas.microsoft.com/office/drawing/2014/main" val="3389390916"/>
                  </a:ext>
                </a:extLst>
              </a:tr>
              <a:tr h="370840">
                <a:tc>
                  <a:txBody>
                    <a:bodyPr/>
                    <a:lstStyle/>
                    <a:p>
                      <a:pPr algn="l" fontAlgn="ctr"/>
                      <a:r>
                        <a:rPr lang="en-US" sz="1100" b="0" i="0" u="none" strike="noStrike" dirty="0">
                          <a:solidFill>
                            <a:srgbClr val="000000"/>
                          </a:solidFill>
                          <a:effectLst/>
                          <a:latin typeface="新細明體" panose="02020500000000000000" pitchFamily="18" charset="-120"/>
                          <a:ea typeface="新細明體" panose="02020500000000000000" pitchFamily="18" charset="-120"/>
                        </a:rPr>
                        <a:t>resource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原燃物料或產品係數</a:t>
                      </a:r>
                    </a:p>
                  </a:txBody>
                  <a:tcPr marL="9525" marR="9525" marT="9525" marB="0" anchor="ctr"/>
                </a:tc>
                <a:extLst>
                  <a:ext uri="{0D108BD9-81ED-4DB2-BD59-A6C34878D82A}">
                    <a16:rowId xmlns:a16="http://schemas.microsoft.com/office/drawing/2014/main" val="1693197343"/>
                  </a:ext>
                </a:extLst>
              </a:tr>
              <a:tr h="370840">
                <a:tc>
                  <a:txBody>
                    <a:bodyPr/>
                    <a:lstStyle/>
                    <a:p>
                      <a:pPr algn="l"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resourceFactorMap</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係數</a:t>
                      </a:r>
                      <a:r>
                        <a:rPr lang="en-US" sz="1100" b="0" i="0" u="none" strike="noStrike">
                          <a:solidFill>
                            <a:srgbClr val="000000"/>
                          </a:solidFill>
                          <a:effectLst/>
                          <a:latin typeface="新細明體" panose="02020500000000000000" pitchFamily="18" charset="-120"/>
                          <a:ea typeface="新細明體" panose="02020500000000000000" pitchFamily="18" charset="-120"/>
                        </a:rPr>
                        <a:t>mapping</a:t>
                      </a:r>
                    </a:p>
                  </a:txBody>
                  <a:tcPr marL="9525" marR="9525" marT="9525" marB="0" anchor="ctr"/>
                </a:tc>
                <a:extLst>
                  <a:ext uri="{0D108BD9-81ED-4DB2-BD59-A6C34878D82A}">
                    <a16:rowId xmlns:a16="http://schemas.microsoft.com/office/drawing/2014/main" val="230893558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emissionSource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排放源</a:t>
                      </a:r>
                    </a:p>
                  </a:txBody>
                  <a:tcPr marL="9525" marR="9525" marT="9525" marB="0" anchor="ctr"/>
                </a:tc>
                <a:extLst>
                  <a:ext uri="{0D108BD9-81ED-4DB2-BD59-A6C34878D82A}">
                    <a16:rowId xmlns:a16="http://schemas.microsoft.com/office/drawing/2014/main" val="35671515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activityData</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活動數據</a:t>
                      </a:r>
                    </a:p>
                  </a:txBody>
                  <a:tcPr marL="9525" marR="9525" marT="9525" marB="0" anchor="ctr"/>
                </a:tc>
                <a:extLst>
                  <a:ext uri="{0D108BD9-81ED-4DB2-BD59-A6C34878D82A}">
                    <a16:rowId xmlns:a16="http://schemas.microsoft.com/office/drawing/2014/main" val="2582477475"/>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user</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帳號</a:t>
                      </a:r>
                    </a:p>
                  </a:txBody>
                  <a:tcPr marL="9525" marR="9525" marT="9525" marB="0" anchor="ctr"/>
                </a:tc>
                <a:extLst>
                  <a:ext uri="{0D108BD9-81ED-4DB2-BD59-A6C34878D82A}">
                    <a16:rowId xmlns:a16="http://schemas.microsoft.com/office/drawing/2014/main" val="2822861141"/>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role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系統角色</a:t>
                      </a:r>
                    </a:p>
                  </a:txBody>
                  <a:tcPr marL="9525" marR="9525" marT="9525" marB="0" anchor="ctr"/>
                </a:tc>
                <a:extLst>
                  <a:ext uri="{0D108BD9-81ED-4DB2-BD59-A6C34878D82A}">
                    <a16:rowId xmlns:a16="http://schemas.microsoft.com/office/drawing/2014/main" val="3234824536"/>
                  </a:ext>
                </a:extLst>
              </a:tr>
              <a:tr h="370840">
                <a:tc>
                  <a:txBody>
                    <a:bodyPr/>
                    <a:lstStyle/>
                    <a:p>
                      <a:pPr algn="l"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auditTask</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稽核任務</a:t>
                      </a:r>
                    </a:p>
                  </a:txBody>
                  <a:tcPr marL="9525" marR="9525" marT="9525" marB="0" anchor="ctr"/>
                </a:tc>
                <a:extLst>
                  <a:ext uri="{0D108BD9-81ED-4DB2-BD59-A6C34878D82A}">
                    <a16:rowId xmlns:a16="http://schemas.microsoft.com/office/drawing/2014/main" val="2911619129"/>
                  </a:ext>
                </a:extLst>
              </a:tr>
              <a:tr h="370840">
                <a:tc>
                  <a:txBody>
                    <a:bodyPr/>
                    <a:lstStyle/>
                    <a:p>
                      <a:pPr algn="l" fontAlgn="ctr"/>
                      <a:r>
                        <a:rPr lang="en-US" sz="1100" b="0" i="0" u="none" strike="noStrike" dirty="0">
                          <a:solidFill>
                            <a:srgbClr val="000000"/>
                          </a:solidFill>
                          <a:effectLst/>
                          <a:latin typeface="新細明體" panose="02020500000000000000" pitchFamily="18" charset="-120"/>
                          <a:ea typeface="新細明體" panose="02020500000000000000" pitchFamily="18" charset="-120"/>
                        </a:rPr>
                        <a:t>account</a:t>
                      </a: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帳號管理頁面</a:t>
                      </a:r>
                    </a:p>
                  </a:txBody>
                  <a:tcPr marL="9525" marR="9525" marT="9525" marB="0" anchor="ctr"/>
                </a:tc>
                <a:extLst>
                  <a:ext uri="{0D108BD9-81ED-4DB2-BD59-A6C34878D82A}">
                    <a16:rowId xmlns:a16="http://schemas.microsoft.com/office/drawing/2014/main" val="2777274266"/>
                  </a:ext>
                </a:extLst>
              </a:tr>
            </a:tbl>
          </a:graphicData>
        </a:graphic>
      </p:graphicFrame>
      <p:graphicFrame>
        <p:nvGraphicFramePr>
          <p:cNvPr id="9" name="Table 7">
            <a:extLst>
              <a:ext uri="{FF2B5EF4-FFF2-40B4-BE49-F238E27FC236}">
                <a16:creationId xmlns:a16="http://schemas.microsoft.com/office/drawing/2014/main" id="{18FFB0C6-BC24-69CD-4E4D-69274176768D}"/>
              </a:ext>
            </a:extLst>
          </p:cNvPr>
          <p:cNvGraphicFramePr>
            <a:graphicFrameLocks/>
          </p:cNvGraphicFramePr>
          <p:nvPr>
            <p:extLst>
              <p:ext uri="{D42A27DB-BD31-4B8C-83A1-F6EECF244321}">
                <p14:modId xmlns:p14="http://schemas.microsoft.com/office/powerpoint/2010/main" val="3932496885"/>
              </p:ext>
            </p:extLst>
          </p:nvPr>
        </p:nvGraphicFramePr>
        <p:xfrm>
          <a:off x="4363790" y="1056130"/>
          <a:ext cx="3429000" cy="5191760"/>
        </p:xfrm>
        <a:graphic>
          <a:graphicData uri="http://schemas.openxmlformats.org/drawingml/2006/table">
            <a:tbl>
              <a:tblPr firstRow="1" bandRow="1">
                <a:tableStyleId>{5C22544A-7EE6-4342-B048-85BDC9FD1C3A}</a:tableStyleId>
              </a:tblPr>
              <a:tblGrid>
                <a:gridCol w="1499616">
                  <a:extLst>
                    <a:ext uri="{9D8B030D-6E8A-4147-A177-3AD203B41FA5}">
                      <a16:colId xmlns:a16="http://schemas.microsoft.com/office/drawing/2014/main" val="2448150674"/>
                    </a:ext>
                  </a:extLst>
                </a:gridCol>
                <a:gridCol w="1929384">
                  <a:extLst>
                    <a:ext uri="{9D8B030D-6E8A-4147-A177-3AD203B41FA5}">
                      <a16:colId xmlns:a16="http://schemas.microsoft.com/office/drawing/2014/main" val="327663412"/>
                    </a:ext>
                  </a:extLst>
                </a:gridCol>
              </a:tblGrid>
              <a:tr h="370840">
                <a:tc>
                  <a:txBody>
                    <a:bodyPr/>
                    <a:lstStyle/>
                    <a:p>
                      <a:pPr algn="just" fontAlgn="ctr"/>
                      <a:r>
                        <a:rPr lang="en-US" sz="1100" b="1" i="0" u="none" strike="noStrike" dirty="0">
                          <a:solidFill>
                            <a:srgbClr val="FFFFFF"/>
                          </a:solidFill>
                          <a:effectLst/>
                          <a:latin typeface="新細明體" panose="02020500000000000000" pitchFamily="18" charset="-120"/>
                          <a:ea typeface="新細明體" panose="02020500000000000000" pitchFamily="18" charset="-120"/>
                        </a:rPr>
                        <a:t>object</a:t>
                      </a:r>
                    </a:p>
                  </a:txBody>
                  <a:tcPr marL="9525" marR="9525" marT="9525" marB="0" anchor="ctr"/>
                </a:tc>
                <a:tc>
                  <a:txBody>
                    <a:bodyPr/>
                    <a:lstStyle/>
                    <a:p>
                      <a:pPr algn="just" fontAlgn="ctr"/>
                      <a:r>
                        <a:rPr lang="zh-TW" altLang="en-US" sz="1100" b="1" i="0" u="none" strike="noStrike" dirty="0">
                          <a:solidFill>
                            <a:srgbClr val="FFFFFF"/>
                          </a:solidFill>
                          <a:effectLst/>
                          <a:latin typeface="新細明體" panose="02020500000000000000" pitchFamily="18" charset="-120"/>
                          <a:ea typeface="新細明體" panose="02020500000000000000" pitchFamily="18" charset="-120"/>
                        </a:rPr>
                        <a:t>描述</a:t>
                      </a:r>
                      <a:endParaRPr lang="en-US" sz="1100" b="1" i="0" u="none" strike="noStrike" dirty="0">
                        <a:solidFill>
                          <a:srgbClr val="FFFFFF"/>
                        </a:solidFill>
                        <a:effectLst/>
                        <a:latin typeface="新細明體" panose="02020500000000000000" pitchFamily="18" charset="-120"/>
                        <a:ea typeface="新細明體" panose="02020500000000000000" pitchFamily="18" charset="-120"/>
                      </a:endParaRPr>
                    </a:p>
                  </a:txBody>
                  <a:tcPr marL="9525" marR="9525" marT="9525" marB="0" anchor="ctr"/>
                </a:tc>
                <a:extLst>
                  <a:ext uri="{0D108BD9-81ED-4DB2-BD59-A6C34878D82A}">
                    <a16:rowId xmlns:a16="http://schemas.microsoft.com/office/drawing/2014/main" val="2177881627"/>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account</a:t>
                      </a:r>
                    </a:p>
                  </a:txBody>
                  <a:tcPr marL="9525" marR="9525" marT="9525" marB="0" anchor="ctr"/>
                </a:tc>
                <a:tc>
                  <a:txBody>
                    <a:bodyPr/>
                    <a:lstStyle/>
                    <a:p>
                      <a:pPr algn="just"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帳號管理頁面</a:t>
                      </a:r>
                    </a:p>
                  </a:txBody>
                  <a:tcPr marL="9525" marR="9525" marT="9525" marB="0" anchor="ctr"/>
                </a:tc>
                <a:extLst>
                  <a:ext uri="{0D108BD9-81ED-4DB2-BD59-A6C34878D82A}">
                    <a16:rowId xmlns:a16="http://schemas.microsoft.com/office/drawing/2014/main" val="2777274266"/>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roleSystem</a:t>
                      </a:r>
                    </a:p>
                  </a:txBody>
                  <a:tcPr marL="9525" marR="9525" marT="9525" marB="0" anchor="ctr"/>
                </a:tc>
                <a:tc>
                  <a:txBody>
                    <a:bodyPr/>
                    <a:lstStyle/>
                    <a:p>
                      <a:pPr algn="just"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系統角色管理頁面</a:t>
                      </a:r>
                    </a:p>
                  </a:txBody>
                  <a:tcPr marL="9525" marR="9525" marT="9525" marB="0" anchor="ctr"/>
                </a:tc>
                <a:extLst>
                  <a:ext uri="{0D108BD9-81ED-4DB2-BD59-A6C34878D82A}">
                    <a16:rowId xmlns:a16="http://schemas.microsoft.com/office/drawing/2014/main" val="3697794950"/>
                  </a:ext>
                </a:extLst>
              </a:tr>
              <a:tr h="370840">
                <a:tc>
                  <a:txBody>
                    <a:bodyPr/>
                    <a:lstStyle/>
                    <a:p>
                      <a:pPr algn="just"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roleSite</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just"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據點角色管理頁面</a:t>
                      </a:r>
                    </a:p>
                  </a:txBody>
                  <a:tcPr marL="9525" marR="9525" marT="9525" marB="0" anchor="ctr"/>
                </a:tc>
                <a:extLst>
                  <a:ext uri="{0D108BD9-81ED-4DB2-BD59-A6C34878D82A}">
                    <a16:rowId xmlns:a16="http://schemas.microsoft.com/office/drawing/2014/main" val="3862822503"/>
                  </a:ext>
                </a:extLst>
              </a:tr>
              <a:tr h="370840">
                <a:tc>
                  <a:txBody>
                    <a:bodyPr/>
                    <a:lstStyle/>
                    <a:p>
                      <a:pPr algn="just"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siteList</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據點清單頁面</a:t>
                      </a:r>
                    </a:p>
                  </a:txBody>
                  <a:tcPr marL="9525" marR="9525" marT="9525" marB="0" anchor="ctr"/>
                </a:tc>
                <a:extLst>
                  <a:ext uri="{0D108BD9-81ED-4DB2-BD59-A6C34878D82A}">
                    <a16:rowId xmlns:a16="http://schemas.microsoft.com/office/drawing/2014/main" val="2809163681"/>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siteSetting</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據點設定頁面</a:t>
                      </a:r>
                    </a:p>
                  </a:txBody>
                  <a:tcPr marL="9525" marR="9525" marT="9525" marB="0" anchor="ctr"/>
                </a:tc>
                <a:extLst>
                  <a:ext uri="{0D108BD9-81ED-4DB2-BD59-A6C34878D82A}">
                    <a16:rowId xmlns:a16="http://schemas.microsoft.com/office/drawing/2014/main" val="3214205483"/>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companyList</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公司清單頁面</a:t>
                      </a:r>
                    </a:p>
                  </a:txBody>
                  <a:tcPr marL="9525" marR="9525" marT="9525" marB="0" anchor="ctr"/>
                </a:tc>
                <a:extLst>
                  <a:ext uri="{0D108BD9-81ED-4DB2-BD59-A6C34878D82A}">
                    <a16:rowId xmlns:a16="http://schemas.microsoft.com/office/drawing/2014/main" val="3385186581"/>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projectList</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專案清單頁面</a:t>
                      </a:r>
                    </a:p>
                  </a:txBody>
                  <a:tcPr marL="9525" marR="9525" marT="9525" marB="0" anchor="ctr"/>
                </a:tc>
                <a:extLst>
                  <a:ext uri="{0D108BD9-81ED-4DB2-BD59-A6C34878D82A}">
                    <a16:rowId xmlns:a16="http://schemas.microsoft.com/office/drawing/2014/main" val="3158788708"/>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verifyList</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簽核清單頁面</a:t>
                      </a:r>
                    </a:p>
                  </a:txBody>
                  <a:tcPr marL="9525" marR="9525" marT="9525" marB="0" anchor="ctr"/>
                </a:tc>
                <a:extLst>
                  <a:ext uri="{0D108BD9-81ED-4DB2-BD59-A6C34878D82A}">
                    <a16:rowId xmlns:a16="http://schemas.microsoft.com/office/drawing/2014/main" val="3411867785"/>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auditTaskList</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任務清單頁面</a:t>
                      </a:r>
                    </a:p>
                  </a:txBody>
                  <a:tcPr marL="9525" marR="9525" marT="9525" marB="0" anchor="ctr"/>
                </a:tc>
                <a:extLst>
                  <a:ext uri="{0D108BD9-81ED-4DB2-BD59-A6C34878D82A}">
                    <a16:rowId xmlns:a16="http://schemas.microsoft.com/office/drawing/2014/main" val="2845215547"/>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auditTaskAudit</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任務稽核頁面</a:t>
                      </a:r>
                    </a:p>
                  </a:txBody>
                  <a:tcPr marL="9525" marR="9525" marT="9525" marB="0" anchor="ctr"/>
                </a:tc>
                <a:extLst>
                  <a:ext uri="{0D108BD9-81ED-4DB2-BD59-A6C34878D82A}">
                    <a16:rowId xmlns:a16="http://schemas.microsoft.com/office/drawing/2014/main" val="1468629086"/>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auditTaskDeficiency</a:t>
                      </a:r>
                    </a:p>
                  </a:txBody>
                  <a:tcPr marL="9525" marR="9525" marT="9525" marB="0" anchor="ctr"/>
                </a:tc>
                <a:tc>
                  <a:txBody>
                    <a:bodyPr/>
                    <a:lstStyle/>
                    <a:p>
                      <a:pPr algn="just"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缺失單頁面</a:t>
                      </a:r>
                    </a:p>
                  </a:txBody>
                  <a:tcPr marL="9525" marR="9525" marT="9525" marB="0" anchor="ctr"/>
                </a:tc>
                <a:extLst>
                  <a:ext uri="{0D108BD9-81ED-4DB2-BD59-A6C34878D82A}">
                    <a16:rowId xmlns:a16="http://schemas.microsoft.com/office/drawing/2014/main" val="2125431127"/>
                  </a:ext>
                </a:extLst>
              </a:tr>
              <a:tr h="370840">
                <a:tc>
                  <a:txBody>
                    <a:bodyPr/>
                    <a:lstStyle/>
                    <a:p>
                      <a:pPr algn="just"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annualComparison</a:t>
                      </a:r>
                    </a:p>
                  </a:txBody>
                  <a:tcPr marL="9525" marR="9525" marT="9525" marB="0" anchor="ctr"/>
                </a:tc>
                <a:tc>
                  <a:txBody>
                    <a:bodyPr/>
                    <a:lstStyle/>
                    <a:p>
                      <a:pPr algn="just"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年度比較頁面</a:t>
                      </a:r>
                    </a:p>
                  </a:txBody>
                  <a:tcPr marL="9525" marR="9525" marT="9525" marB="0" anchor="ctr"/>
                </a:tc>
                <a:extLst>
                  <a:ext uri="{0D108BD9-81ED-4DB2-BD59-A6C34878D82A}">
                    <a16:rowId xmlns:a16="http://schemas.microsoft.com/office/drawing/2014/main" val="1909024970"/>
                  </a:ext>
                </a:extLst>
              </a:tr>
              <a:tr h="370840">
                <a:tc>
                  <a:txBody>
                    <a:bodyPr/>
                    <a:lstStyle/>
                    <a:p>
                      <a:pPr algn="just"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siteComparison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just"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據點比較頁面</a:t>
                      </a:r>
                    </a:p>
                  </a:txBody>
                  <a:tcPr marL="9525" marR="9525" marT="9525" marB="0" anchor="ctr"/>
                </a:tc>
                <a:extLst>
                  <a:ext uri="{0D108BD9-81ED-4DB2-BD59-A6C34878D82A}">
                    <a16:rowId xmlns:a16="http://schemas.microsoft.com/office/drawing/2014/main" val="3950587549"/>
                  </a:ext>
                </a:extLst>
              </a:tr>
            </a:tbl>
          </a:graphicData>
        </a:graphic>
      </p:graphicFrame>
      <p:graphicFrame>
        <p:nvGraphicFramePr>
          <p:cNvPr id="10" name="Table 7">
            <a:extLst>
              <a:ext uri="{FF2B5EF4-FFF2-40B4-BE49-F238E27FC236}">
                <a16:creationId xmlns:a16="http://schemas.microsoft.com/office/drawing/2014/main" id="{0BA625FD-2777-3EAF-4917-3BF5243E08FE}"/>
              </a:ext>
            </a:extLst>
          </p:cNvPr>
          <p:cNvGraphicFramePr>
            <a:graphicFrameLocks/>
          </p:cNvGraphicFramePr>
          <p:nvPr>
            <p:extLst>
              <p:ext uri="{D42A27DB-BD31-4B8C-83A1-F6EECF244321}">
                <p14:modId xmlns:p14="http://schemas.microsoft.com/office/powerpoint/2010/main" val="191256238"/>
              </p:ext>
            </p:extLst>
          </p:nvPr>
        </p:nvGraphicFramePr>
        <p:xfrm>
          <a:off x="8322812" y="1052377"/>
          <a:ext cx="3429000" cy="2966720"/>
        </p:xfrm>
        <a:graphic>
          <a:graphicData uri="http://schemas.openxmlformats.org/drawingml/2006/table">
            <a:tbl>
              <a:tblPr firstRow="1" bandRow="1">
                <a:tableStyleId>{5C22544A-7EE6-4342-B048-85BDC9FD1C3A}</a:tableStyleId>
              </a:tblPr>
              <a:tblGrid>
                <a:gridCol w="1499616">
                  <a:extLst>
                    <a:ext uri="{9D8B030D-6E8A-4147-A177-3AD203B41FA5}">
                      <a16:colId xmlns:a16="http://schemas.microsoft.com/office/drawing/2014/main" val="2448150674"/>
                    </a:ext>
                  </a:extLst>
                </a:gridCol>
                <a:gridCol w="1929384">
                  <a:extLst>
                    <a:ext uri="{9D8B030D-6E8A-4147-A177-3AD203B41FA5}">
                      <a16:colId xmlns:a16="http://schemas.microsoft.com/office/drawing/2014/main" val="327663412"/>
                    </a:ext>
                  </a:extLst>
                </a:gridCol>
              </a:tblGrid>
              <a:tr h="370840">
                <a:tc>
                  <a:txBody>
                    <a:bodyPr/>
                    <a:lstStyle/>
                    <a:p>
                      <a:pPr algn="l" fontAlgn="ctr"/>
                      <a:r>
                        <a:rPr lang="en-US" sz="1100" b="1" i="0" u="none" strike="noStrike" dirty="0">
                          <a:solidFill>
                            <a:srgbClr val="FFFFFF"/>
                          </a:solidFill>
                          <a:effectLst/>
                          <a:latin typeface="新細明體" panose="02020500000000000000" pitchFamily="18" charset="-120"/>
                          <a:ea typeface="新細明體" panose="02020500000000000000" pitchFamily="18" charset="-120"/>
                        </a:rPr>
                        <a:t>object</a:t>
                      </a:r>
                    </a:p>
                  </a:txBody>
                  <a:tcPr marL="9525" marR="9525" marT="9525" marB="0" anchor="ctr"/>
                </a:tc>
                <a:tc>
                  <a:txBody>
                    <a:bodyPr/>
                    <a:lstStyle/>
                    <a:p>
                      <a:pPr algn="l" fontAlgn="ctr"/>
                      <a:r>
                        <a:rPr lang="zh-TW" altLang="en-US" sz="1100" b="1" i="0" u="none" strike="noStrike" dirty="0">
                          <a:solidFill>
                            <a:srgbClr val="FFFFFF"/>
                          </a:solidFill>
                          <a:effectLst/>
                          <a:latin typeface="新細明體" panose="02020500000000000000" pitchFamily="18" charset="-120"/>
                          <a:ea typeface="新細明體" panose="02020500000000000000" pitchFamily="18" charset="-120"/>
                        </a:rPr>
                        <a:t>描述</a:t>
                      </a:r>
                      <a:endParaRPr lang="en-US" sz="1100" b="1" i="0" u="none" strike="noStrike" dirty="0">
                        <a:solidFill>
                          <a:srgbClr val="FFFFFF"/>
                        </a:solidFill>
                        <a:effectLst/>
                        <a:latin typeface="新細明體" panose="02020500000000000000" pitchFamily="18" charset="-120"/>
                        <a:ea typeface="新細明體" panose="02020500000000000000" pitchFamily="18" charset="-120"/>
                      </a:endParaRPr>
                    </a:p>
                  </a:txBody>
                  <a:tcPr marL="9525" marR="9525" marT="9525" marB="0" anchor="ctr"/>
                </a:tc>
                <a:extLst>
                  <a:ext uri="{0D108BD9-81ED-4DB2-BD59-A6C34878D82A}">
                    <a16:rowId xmlns:a16="http://schemas.microsoft.com/office/drawing/2014/main" val="217788162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factorDbGhg</a:t>
                      </a:r>
                    </a:p>
                  </a:txBody>
                  <a:tcPr marL="9525" marR="9525" marT="9525" marB="0" anchor="ctr"/>
                </a:tc>
                <a:tc>
                  <a:txBody>
                    <a:bodyPr/>
                    <a:lstStyle/>
                    <a:p>
                      <a:pPr algn="l" fontAlgn="ctr"/>
                      <a:r>
                        <a:rPr lang="en-US" altLang="zh-TW" sz="1100" b="0" i="0" u="none" strike="noStrike" dirty="0">
                          <a:solidFill>
                            <a:srgbClr val="000000"/>
                          </a:solidFill>
                          <a:effectLst/>
                          <a:latin typeface="新細明體" panose="02020500000000000000" pitchFamily="18" charset="-120"/>
                          <a:ea typeface="新細明體" panose="02020500000000000000" pitchFamily="18" charset="-120"/>
                        </a:rPr>
                        <a:t>GHG</a:t>
                      </a: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係數列表頁面</a:t>
                      </a:r>
                    </a:p>
                  </a:txBody>
                  <a:tcPr marL="9525" marR="9525" marT="9525" marB="0" anchor="ctr"/>
                </a:tc>
                <a:extLst>
                  <a:ext uri="{0D108BD9-81ED-4DB2-BD59-A6C34878D82A}">
                    <a16:rowId xmlns:a16="http://schemas.microsoft.com/office/drawing/2014/main" val="2176459003"/>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factorDbGwp</a:t>
                      </a:r>
                    </a:p>
                  </a:txBody>
                  <a:tcPr marL="9525" marR="9525" marT="9525" marB="0" anchor="ctr"/>
                </a:tc>
                <a:tc>
                  <a:txBody>
                    <a:bodyPr/>
                    <a:lstStyle/>
                    <a:p>
                      <a:pPr algn="l" fontAlgn="ctr"/>
                      <a:r>
                        <a:rPr lang="en-US" altLang="zh-TW" sz="1100" b="0" i="0" u="none" strike="noStrike">
                          <a:solidFill>
                            <a:srgbClr val="000000"/>
                          </a:solidFill>
                          <a:effectLst/>
                          <a:latin typeface="新細明體" panose="02020500000000000000" pitchFamily="18" charset="-120"/>
                          <a:ea typeface="新細明體" panose="02020500000000000000" pitchFamily="18" charset="-120"/>
                        </a:rPr>
                        <a:t>GWP</a:t>
                      </a: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係數列表頁面</a:t>
                      </a:r>
                    </a:p>
                  </a:txBody>
                  <a:tcPr marL="9525" marR="9525" marT="9525" marB="0" anchor="ctr"/>
                </a:tc>
                <a:extLst>
                  <a:ext uri="{0D108BD9-81ED-4DB2-BD59-A6C34878D82A}">
                    <a16:rowId xmlns:a16="http://schemas.microsoft.com/office/drawing/2014/main" val="3012598358"/>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systemCateTag</a:t>
                      </a: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標籤管理頁面</a:t>
                      </a:r>
                    </a:p>
                  </a:txBody>
                  <a:tcPr marL="9525" marR="9525" marT="9525" marB="0" anchor="ctr"/>
                </a:tc>
                <a:extLst>
                  <a:ext uri="{0D108BD9-81ED-4DB2-BD59-A6C34878D82A}">
                    <a16:rowId xmlns:a16="http://schemas.microsoft.com/office/drawing/2014/main" val="2534726380"/>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systemPredefinedEmission</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排放源預定管理頁面</a:t>
                      </a:r>
                    </a:p>
                  </a:txBody>
                  <a:tcPr marL="9525" marR="9525" marT="9525" marB="0" anchor="ctr"/>
                </a:tc>
                <a:extLst>
                  <a:ext uri="{0D108BD9-81ED-4DB2-BD59-A6C34878D82A}">
                    <a16:rowId xmlns:a16="http://schemas.microsoft.com/office/drawing/2014/main" val="2983284864"/>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systemI18n</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多國語言設定頁面</a:t>
                      </a:r>
                    </a:p>
                  </a:txBody>
                  <a:tcPr marL="9525" marR="9525" marT="9525" marB="0" anchor="ctr"/>
                </a:tc>
                <a:extLst>
                  <a:ext uri="{0D108BD9-81ED-4DB2-BD59-A6C34878D82A}">
                    <a16:rowId xmlns:a16="http://schemas.microsoft.com/office/drawing/2014/main" val="4142511538"/>
                  </a:ext>
                </a:extLst>
              </a:tr>
              <a:tr h="370840">
                <a:tc>
                  <a:txBody>
                    <a:bodyPr/>
                    <a:lstStyle/>
                    <a:p>
                      <a:pPr algn="l"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auditJob</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稽核單</a:t>
                      </a:r>
                    </a:p>
                  </a:txBody>
                  <a:tcPr marL="9525" marR="9525" marT="9525" marB="0" anchor="ctr"/>
                </a:tc>
                <a:extLst>
                  <a:ext uri="{0D108BD9-81ED-4DB2-BD59-A6C34878D82A}">
                    <a16:rowId xmlns:a16="http://schemas.microsoft.com/office/drawing/2014/main" val="1910811313"/>
                  </a:ext>
                </a:extLst>
              </a:tr>
              <a:tr h="370840">
                <a:tc>
                  <a:txBody>
                    <a:bodyPr/>
                    <a:lstStyle/>
                    <a:p>
                      <a:pPr algn="l" fontAlgn="ctr"/>
                      <a:r>
                        <a:rPr lang="en-US" sz="1100" b="0" i="0" u="none" strike="noStrike" dirty="0" err="1">
                          <a:solidFill>
                            <a:srgbClr val="000000"/>
                          </a:solidFill>
                          <a:effectLst/>
                          <a:latin typeface="新細明體" panose="02020500000000000000" pitchFamily="18" charset="-120"/>
                          <a:ea typeface="新細明體" panose="02020500000000000000" pitchFamily="18" charset="-120"/>
                        </a:rPr>
                        <a:t>auditDeficiency</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缺失單</a:t>
                      </a:r>
                    </a:p>
                  </a:txBody>
                  <a:tcPr marL="9525" marR="9525" marT="9525" marB="0" anchor="ctr"/>
                </a:tc>
                <a:extLst>
                  <a:ext uri="{0D108BD9-81ED-4DB2-BD59-A6C34878D82A}">
                    <a16:rowId xmlns:a16="http://schemas.microsoft.com/office/drawing/2014/main" val="1404055129"/>
                  </a:ext>
                </a:extLst>
              </a:tr>
            </a:tbl>
          </a:graphicData>
        </a:graphic>
      </p:graphicFrame>
    </p:spTree>
    <p:extLst>
      <p:ext uri="{BB962C8B-B14F-4D97-AF65-F5344CB8AC3E}">
        <p14:creationId xmlns:p14="http://schemas.microsoft.com/office/powerpoint/2010/main" val="38507156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9D2C-6915-B2CF-F733-932C377B8C0F}"/>
              </a:ext>
            </a:extLst>
          </p:cNvPr>
          <p:cNvSpPr>
            <a:spLocks noGrp="1"/>
          </p:cNvSpPr>
          <p:nvPr>
            <p:ph type="title"/>
          </p:nvPr>
        </p:nvSpPr>
        <p:spPr/>
        <p:txBody>
          <a:bodyPr/>
          <a:lstStyle/>
          <a:p>
            <a:r>
              <a:rPr lang="zh-TW" altLang="en-US" dirty="0"/>
              <a:t>權限管理 </a:t>
            </a:r>
            <a:r>
              <a:rPr lang="en-US" altLang="zh-TW" dirty="0"/>
              <a:t>–</a:t>
            </a:r>
            <a:r>
              <a:rPr lang="zh-TW" altLang="en-US" dirty="0"/>
              <a:t> 行為</a:t>
            </a:r>
          </a:p>
        </p:txBody>
      </p:sp>
      <p:graphicFrame>
        <p:nvGraphicFramePr>
          <p:cNvPr id="7" name="Table 7">
            <a:extLst>
              <a:ext uri="{FF2B5EF4-FFF2-40B4-BE49-F238E27FC236}">
                <a16:creationId xmlns:a16="http://schemas.microsoft.com/office/drawing/2014/main" id="{2CA03E01-D3FC-312F-24D1-C14E29762EFA}"/>
              </a:ext>
            </a:extLst>
          </p:cNvPr>
          <p:cNvGraphicFramePr>
            <a:graphicFrameLocks noGrp="1"/>
          </p:cNvGraphicFramePr>
          <p:nvPr>
            <p:ph idx="1"/>
            <p:extLst>
              <p:ext uri="{D42A27DB-BD31-4B8C-83A1-F6EECF244321}">
                <p14:modId xmlns:p14="http://schemas.microsoft.com/office/powerpoint/2010/main" val="2687150349"/>
              </p:ext>
            </p:extLst>
          </p:nvPr>
        </p:nvGraphicFramePr>
        <p:xfrm>
          <a:off x="406399" y="1052377"/>
          <a:ext cx="3427369" cy="4450080"/>
        </p:xfrm>
        <a:graphic>
          <a:graphicData uri="http://schemas.openxmlformats.org/drawingml/2006/table">
            <a:tbl>
              <a:tblPr firstRow="1" bandRow="1">
                <a:tableStyleId>{5C22544A-7EE6-4342-B048-85BDC9FD1C3A}</a:tableStyleId>
              </a:tblPr>
              <a:tblGrid>
                <a:gridCol w="1497902">
                  <a:extLst>
                    <a:ext uri="{9D8B030D-6E8A-4147-A177-3AD203B41FA5}">
                      <a16:colId xmlns:a16="http://schemas.microsoft.com/office/drawing/2014/main" val="2448150674"/>
                    </a:ext>
                  </a:extLst>
                </a:gridCol>
                <a:gridCol w="1929467">
                  <a:extLst>
                    <a:ext uri="{9D8B030D-6E8A-4147-A177-3AD203B41FA5}">
                      <a16:colId xmlns:a16="http://schemas.microsoft.com/office/drawing/2014/main" val="327663412"/>
                    </a:ext>
                  </a:extLst>
                </a:gridCol>
              </a:tblGrid>
              <a:tr h="370840">
                <a:tc>
                  <a:txBody>
                    <a:bodyPr/>
                    <a:lstStyle/>
                    <a:p>
                      <a:pPr algn="l" fontAlgn="ctr"/>
                      <a:r>
                        <a:rPr lang="en-US" sz="1100" b="1" i="0" u="none" strike="noStrike" dirty="0">
                          <a:solidFill>
                            <a:srgbClr val="FFFFFF"/>
                          </a:solidFill>
                          <a:effectLst/>
                          <a:latin typeface="新細明體" panose="02020500000000000000" pitchFamily="18" charset="-120"/>
                          <a:ea typeface="新細明體" panose="02020500000000000000" pitchFamily="18" charset="-120"/>
                        </a:rPr>
                        <a:t>operation</a:t>
                      </a:r>
                    </a:p>
                  </a:txBody>
                  <a:tcPr marL="9525" marR="9525" marT="9525" marB="0" anchor="ctr"/>
                </a:tc>
                <a:tc>
                  <a:txBody>
                    <a:bodyPr/>
                    <a:lstStyle/>
                    <a:p>
                      <a:pPr algn="l" fontAlgn="ctr"/>
                      <a:r>
                        <a:rPr lang="zh-TW" altLang="en-US" sz="1100" b="1" i="0" u="none" strike="noStrike" dirty="0">
                          <a:solidFill>
                            <a:srgbClr val="FFFFFF"/>
                          </a:solidFill>
                          <a:effectLst/>
                          <a:latin typeface="新細明體" panose="02020500000000000000" pitchFamily="18" charset="-120"/>
                          <a:ea typeface="新細明體" panose="02020500000000000000" pitchFamily="18" charset="-120"/>
                        </a:rPr>
                        <a:t>描述</a:t>
                      </a:r>
                      <a:endParaRPr lang="en-US" sz="1100" b="1" i="0" u="none" strike="noStrike" dirty="0">
                        <a:solidFill>
                          <a:srgbClr val="FFFFFF"/>
                        </a:solidFill>
                        <a:effectLst/>
                        <a:latin typeface="新細明體" panose="02020500000000000000" pitchFamily="18" charset="-120"/>
                        <a:ea typeface="新細明體" panose="02020500000000000000" pitchFamily="18" charset="-120"/>
                      </a:endParaRPr>
                    </a:p>
                  </a:txBody>
                  <a:tcPr marL="9525" marR="9525" marT="9525" marB="0" anchor="ctr"/>
                </a:tc>
                <a:extLst>
                  <a:ext uri="{0D108BD9-81ED-4DB2-BD59-A6C34878D82A}">
                    <a16:rowId xmlns:a16="http://schemas.microsoft.com/office/drawing/2014/main" val="217788162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privileged</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全部行為皆有權限</a:t>
                      </a:r>
                    </a:p>
                  </a:txBody>
                  <a:tcPr marL="9525" marR="9525" marT="9525" marB="0" anchor="ctr"/>
                </a:tc>
                <a:extLst>
                  <a:ext uri="{0D108BD9-81ED-4DB2-BD59-A6C34878D82A}">
                    <a16:rowId xmlns:a16="http://schemas.microsoft.com/office/drawing/2014/main" val="753474642"/>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create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新增</a:t>
                      </a:r>
                    </a:p>
                  </a:txBody>
                  <a:tcPr marL="9525" marR="9525" marT="9525" marB="0" anchor="ctr"/>
                </a:tc>
                <a:extLst>
                  <a:ext uri="{0D108BD9-81ED-4DB2-BD59-A6C34878D82A}">
                    <a16:rowId xmlns:a16="http://schemas.microsoft.com/office/drawing/2014/main" val="1832142468"/>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read</a:t>
                      </a: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瀏覽</a:t>
                      </a:r>
                    </a:p>
                  </a:txBody>
                  <a:tcPr marL="9525" marR="9525" marT="9525" marB="0" anchor="ctr"/>
                </a:tc>
                <a:extLst>
                  <a:ext uri="{0D108BD9-81ED-4DB2-BD59-A6C34878D82A}">
                    <a16:rowId xmlns:a16="http://schemas.microsoft.com/office/drawing/2014/main" val="374285030"/>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update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編輯</a:t>
                      </a:r>
                    </a:p>
                  </a:txBody>
                  <a:tcPr marL="9525" marR="9525" marT="9525" marB="0" anchor="ctr"/>
                </a:tc>
                <a:extLst>
                  <a:ext uri="{0D108BD9-81ED-4DB2-BD59-A6C34878D82A}">
                    <a16:rowId xmlns:a16="http://schemas.microsoft.com/office/drawing/2014/main" val="4084844214"/>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delete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刪除</a:t>
                      </a:r>
                    </a:p>
                  </a:txBody>
                  <a:tcPr marL="9525" marR="9525" marT="9525" marB="0" anchor="ctr"/>
                </a:tc>
                <a:extLst>
                  <a:ext uri="{0D108BD9-81ED-4DB2-BD59-A6C34878D82A}">
                    <a16:rowId xmlns:a16="http://schemas.microsoft.com/office/drawing/2014/main" val="3389390916"/>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submit</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提交簽核</a:t>
                      </a:r>
                    </a:p>
                  </a:txBody>
                  <a:tcPr marL="9525" marR="9525" marT="9525" marB="0" anchor="ctr"/>
                </a:tc>
                <a:extLst>
                  <a:ext uri="{0D108BD9-81ED-4DB2-BD59-A6C34878D82A}">
                    <a16:rowId xmlns:a16="http://schemas.microsoft.com/office/drawing/2014/main" val="1693197343"/>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approve</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簽核放行</a:t>
                      </a:r>
                    </a:p>
                  </a:txBody>
                  <a:tcPr marL="9525" marR="9525" marT="9525" marB="0" anchor="ctr"/>
                </a:tc>
                <a:extLst>
                  <a:ext uri="{0D108BD9-81ED-4DB2-BD59-A6C34878D82A}">
                    <a16:rowId xmlns:a16="http://schemas.microsoft.com/office/drawing/2014/main" val="230893558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reject</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簽核駁回</a:t>
                      </a:r>
                    </a:p>
                  </a:txBody>
                  <a:tcPr marL="9525" marR="9525" marT="9525" marB="0" anchor="ctr"/>
                </a:tc>
                <a:extLst>
                  <a:ext uri="{0D108BD9-81ED-4DB2-BD59-A6C34878D82A}">
                    <a16:rowId xmlns:a16="http://schemas.microsoft.com/office/drawing/2014/main" val="356715157"/>
                  </a:ext>
                </a:extLst>
              </a:tr>
              <a:tr h="370840">
                <a:tc>
                  <a:txBody>
                    <a:bodyPr/>
                    <a:lstStyle/>
                    <a:p>
                      <a:pPr algn="l" fontAlgn="ctr"/>
                      <a:r>
                        <a:rPr lang="en-US" sz="1100" b="0" i="0" u="none" strike="noStrike">
                          <a:solidFill>
                            <a:srgbClr val="000000"/>
                          </a:solidFill>
                          <a:effectLst/>
                          <a:latin typeface="新細明體" panose="02020500000000000000" pitchFamily="18" charset="-120"/>
                          <a:ea typeface="新細明體" panose="02020500000000000000" pitchFamily="18" charset="-120"/>
                        </a:rPr>
                        <a:t>audit</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稽核</a:t>
                      </a:r>
                    </a:p>
                  </a:txBody>
                  <a:tcPr marL="9525" marR="9525" marT="9525" marB="0" anchor="ctr"/>
                </a:tc>
                <a:extLst>
                  <a:ext uri="{0D108BD9-81ED-4DB2-BD59-A6C34878D82A}">
                    <a16:rowId xmlns:a16="http://schemas.microsoft.com/office/drawing/2014/main" val="2582477475"/>
                  </a:ext>
                </a:extLst>
              </a:tr>
              <a:tr h="370840">
                <a:tc>
                  <a:txBody>
                    <a:bodyPr/>
                    <a:lstStyle/>
                    <a:p>
                      <a:pPr algn="l" fontAlgn="ctr"/>
                      <a:r>
                        <a:rPr lang="en-US" sz="1100" b="0" i="0" u="none" strike="noStrike" dirty="0">
                          <a:solidFill>
                            <a:srgbClr val="000000"/>
                          </a:solidFill>
                          <a:effectLst/>
                          <a:latin typeface="新細明體" panose="02020500000000000000" pitchFamily="18" charset="-120"/>
                          <a:ea typeface="新細明體" panose="02020500000000000000" pitchFamily="18" charset="-120"/>
                        </a:rPr>
                        <a:t>page</a:t>
                      </a:r>
                    </a:p>
                  </a:txBody>
                  <a:tcPr marL="9525" marR="9525" marT="9525" marB="0" anchor="ctr"/>
                </a:tc>
                <a:tc>
                  <a:txBody>
                    <a:bodyPr/>
                    <a:lstStyle/>
                    <a:p>
                      <a:pPr algn="l" fontAlgn="ctr"/>
                      <a:r>
                        <a:rPr lang="zh-TW" altLang="en-US" sz="1100" b="0" i="0" u="none" strike="noStrike" dirty="0">
                          <a:solidFill>
                            <a:srgbClr val="000000"/>
                          </a:solidFill>
                          <a:effectLst/>
                          <a:latin typeface="新細明體" panose="02020500000000000000" pitchFamily="18" charset="-120"/>
                          <a:ea typeface="新細明體" panose="02020500000000000000" pitchFamily="18" charset="-120"/>
                        </a:rPr>
                        <a:t>進入頁面</a:t>
                      </a:r>
                    </a:p>
                  </a:txBody>
                  <a:tcPr marL="9525" marR="9525" marT="9525" marB="0" anchor="ctr"/>
                </a:tc>
                <a:extLst>
                  <a:ext uri="{0D108BD9-81ED-4DB2-BD59-A6C34878D82A}">
                    <a16:rowId xmlns:a16="http://schemas.microsoft.com/office/drawing/2014/main" val="2822861141"/>
                  </a:ext>
                </a:extLst>
              </a:tr>
              <a:tr h="370840">
                <a:tc>
                  <a:txBody>
                    <a:bodyPr/>
                    <a:lstStyle/>
                    <a:p>
                      <a:pPr algn="l" fontAlgn="ctr"/>
                      <a:r>
                        <a:rPr lang="en-US" sz="1100" b="0" i="0" u="none" strike="noStrike" dirty="0">
                          <a:solidFill>
                            <a:srgbClr val="000000"/>
                          </a:solidFill>
                          <a:effectLst/>
                          <a:latin typeface="新細明體" panose="02020500000000000000" pitchFamily="18" charset="-120"/>
                          <a:ea typeface="新細明體" panose="02020500000000000000" pitchFamily="18" charset="-120"/>
                        </a:rPr>
                        <a:t>assign</a:t>
                      </a:r>
                    </a:p>
                  </a:txBody>
                  <a:tcPr marL="9525" marR="9525" marT="9525" marB="0" anchor="ctr"/>
                </a:tc>
                <a:tc>
                  <a:txBody>
                    <a:bodyPr/>
                    <a:lstStyle/>
                    <a:p>
                      <a:pPr algn="l" fontAlgn="ctr"/>
                      <a:r>
                        <a:rPr lang="zh-TW" altLang="en-US" sz="1100" b="0" i="0" u="none" strike="noStrike">
                          <a:solidFill>
                            <a:srgbClr val="000000"/>
                          </a:solidFill>
                          <a:effectLst/>
                          <a:latin typeface="新細明體" panose="02020500000000000000" pitchFamily="18" charset="-120"/>
                          <a:ea typeface="新細明體" panose="02020500000000000000" pitchFamily="18" charset="-120"/>
                        </a:rPr>
                        <a:t>指派</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extLst>
                  <a:ext uri="{0D108BD9-81ED-4DB2-BD59-A6C34878D82A}">
                    <a16:rowId xmlns:a16="http://schemas.microsoft.com/office/drawing/2014/main" val="3922602389"/>
                  </a:ext>
                </a:extLst>
              </a:tr>
            </a:tbl>
          </a:graphicData>
        </a:graphic>
      </p:graphicFrame>
    </p:spTree>
    <p:extLst>
      <p:ext uri="{BB962C8B-B14F-4D97-AF65-F5344CB8AC3E}">
        <p14:creationId xmlns:p14="http://schemas.microsoft.com/office/powerpoint/2010/main" val="4092125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排放量預計算</a:t>
            </a:r>
          </a:p>
        </p:txBody>
      </p:sp>
    </p:spTree>
    <p:extLst>
      <p:ext uri="{BB962C8B-B14F-4D97-AF65-F5344CB8AC3E}">
        <p14:creationId xmlns:p14="http://schemas.microsoft.com/office/powerpoint/2010/main" val="22765308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4E44-1697-A4F8-83D3-5C100556DE00}"/>
              </a:ext>
            </a:extLst>
          </p:cNvPr>
          <p:cNvSpPr>
            <a:spLocks noGrp="1"/>
          </p:cNvSpPr>
          <p:nvPr>
            <p:ph type="title"/>
          </p:nvPr>
        </p:nvSpPr>
        <p:spPr/>
        <p:txBody>
          <a:bodyPr/>
          <a:lstStyle/>
          <a:p>
            <a:r>
              <a:rPr lang="zh-TW" altLang="en-US" dirty="0"/>
              <a:t>活動數據排放量預計算</a:t>
            </a:r>
          </a:p>
        </p:txBody>
      </p:sp>
      <p:sp>
        <p:nvSpPr>
          <p:cNvPr id="3" name="Content Placeholder 2">
            <a:extLst>
              <a:ext uri="{FF2B5EF4-FFF2-40B4-BE49-F238E27FC236}">
                <a16:creationId xmlns:a16="http://schemas.microsoft.com/office/drawing/2014/main" id="{534D8603-6970-F187-6872-CE9CA6888CEB}"/>
              </a:ext>
            </a:extLst>
          </p:cNvPr>
          <p:cNvSpPr>
            <a:spLocks noGrp="1"/>
          </p:cNvSpPr>
          <p:nvPr>
            <p:ph idx="1"/>
          </p:nvPr>
        </p:nvSpPr>
        <p:spPr/>
        <p:txBody>
          <a:bodyPr>
            <a:normAutofit/>
          </a:bodyPr>
          <a:lstStyle/>
          <a:p>
            <a:r>
              <a:rPr lang="zh-TW" altLang="en-US" dirty="0"/>
              <a:t>活動數據建立後，會將數據量平攤至每日存放到</a:t>
            </a:r>
            <a:r>
              <a:rPr lang="en-US" altLang="zh-TW" dirty="0"/>
              <a:t> table </a:t>
            </a:r>
            <a:r>
              <a:rPr lang="en-US" altLang="zh-TW" dirty="0" err="1"/>
              <a:t>activity_data_daily</a:t>
            </a:r>
            <a:r>
              <a:rPr lang="zh-TW" altLang="en-US" dirty="0"/>
              <a:t>，亦會根據活動數據所屬的排放源之原燃物料或產品係數計算每日的 </a:t>
            </a:r>
            <a:r>
              <a:rPr lang="en-US" altLang="zh-TW" dirty="0"/>
              <a:t>GHG</a:t>
            </a:r>
            <a:r>
              <a:rPr lang="zh-TW" altLang="en-US" dirty="0"/>
              <a:t> 排放量，若為電力相關係數則會區分地區</a:t>
            </a:r>
            <a:r>
              <a:rPr lang="en-US" altLang="zh-TW" dirty="0"/>
              <a:t>/</a:t>
            </a:r>
            <a:r>
              <a:rPr lang="zh-TW" altLang="en-US" dirty="0"/>
              <a:t>市場別並存放到 </a:t>
            </a:r>
            <a:r>
              <a:rPr lang="en-US" altLang="zh-TW" dirty="0"/>
              <a:t>table </a:t>
            </a:r>
            <a:r>
              <a:rPr lang="en-US" altLang="zh-TW" dirty="0" err="1"/>
              <a:t>activity_data_ghg_emission</a:t>
            </a:r>
            <a:endParaRPr lang="en-US" altLang="zh-TW" dirty="0"/>
          </a:p>
          <a:p>
            <a:r>
              <a:rPr lang="zh-TW" altLang="en-US" dirty="0"/>
              <a:t>計算完成後會統計活動數據所屬據點年度的填寫進度存放到 </a:t>
            </a:r>
            <a:r>
              <a:rPr lang="en-US" altLang="zh-TW" dirty="0"/>
              <a:t>table </a:t>
            </a:r>
            <a:r>
              <a:rPr lang="en-US" altLang="zh-TW" dirty="0" err="1"/>
              <a:t>ocf.site_annual</a:t>
            </a:r>
            <a:r>
              <a:rPr lang="zh-TW" altLang="en-US" dirty="0"/>
              <a:t> 的 </a:t>
            </a:r>
            <a:r>
              <a:rPr lang="en-US" altLang="zh-TW" dirty="0"/>
              <a:t>progress </a:t>
            </a:r>
            <a:r>
              <a:rPr lang="zh-TW" altLang="en-US" dirty="0"/>
              <a:t>欄位</a:t>
            </a:r>
            <a:endParaRPr lang="en-US" altLang="zh-TW" dirty="0"/>
          </a:p>
          <a:p>
            <a:r>
              <a:rPr lang="zh-TW" altLang="en-US" dirty="0"/>
              <a:t>活動數據新增</a:t>
            </a:r>
            <a:r>
              <a:rPr lang="en-US" altLang="zh-TW" dirty="0"/>
              <a:t>/</a:t>
            </a:r>
            <a:r>
              <a:rPr lang="zh-TW" altLang="en-US" dirty="0"/>
              <a:t>編輯</a:t>
            </a:r>
            <a:r>
              <a:rPr lang="en-US" altLang="zh-TW" dirty="0"/>
              <a:t>/</a:t>
            </a:r>
            <a:r>
              <a:rPr lang="zh-TW" altLang="en-US" dirty="0"/>
              <a:t>刪除、原燃物料或產品係數</a:t>
            </a:r>
            <a:r>
              <a:rPr lang="en-US" altLang="zh-TW" dirty="0"/>
              <a:t>/</a:t>
            </a:r>
            <a:r>
              <a:rPr lang="zh-TW" altLang="en-US" dirty="0"/>
              <a:t>排放源編輯後，會丟出 </a:t>
            </a:r>
            <a:r>
              <a:rPr lang="en-US" altLang="zh-TW" dirty="0" err="1"/>
              <a:t>kafka</a:t>
            </a:r>
            <a:r>
              <a:rPr lang="zh-TW" altLang="en-US" dirty="0"/>
              <a:t> 事件觸發更新，</a:t>
            </a:r>
            <a:r>
              <a:rPr lang="en-US" altLang="zh-TW" dirty="0"/>
              <a:t>Topic </a:t>
            </a:r>
            <a:r>
              <a:rPr lang="zh-TW" altLang="en-US" dirty="0"/>
              <a:t>為 </a:t>
            </a:r>
            <a:r>
              <a:rPr lang="en-US" altLang="zh-TW" dirty="0" err="1"/>
              <a:t>ocf</a:t>
            </a:r>
            <a:r>
              <a:rPr lang="en-US" altLang="zh-TW" dirty="0"/>
              <a:t>-calculate-</a:t>
            </a:r>
            <a:r>
              <a:rPr lang="en-US" altLang="zh-TW" dirty="0" err="1"/>
              <a:t>ghg</a:t>
            </a:r>
            <a:r>
              <a:rPr lang="en-US" altLang="zh-TW" dirty="0"/>
              <a:t>-emission</a:t>
            </a:r>
            <a:r>
              <a:rPr lang="zh-TW" altLang="en-US" dirty="0"/>
              <a:t> </a:t>
            </a:r>
            <a:r>
              <a:rPr lang="en-US" altLang="zh-TW" dirty="0"/>
              <a:t>(</a:t>
            </a:r>
            <a:r>
              <a:rPr lang="en-US" altLang="zh-TW" dirty="0" err="1"/>
              <a:t>GhgEmissionProducer</a:t>
            </a:r>
            <a:r>
              <a:rPr lang="en-US" altLang="zh-TW" dirty="0"/>
              <a:t>/</a:t>
            </a:r>
            <a:r>
              <a:rPr lang="en-US" altLang="zh-TW" dirty="0" err="1"/>
              <a:t>GhgEmissionConsumer</a:t>
            </a:r>
            <a:r>
              <a:rPr lang="en-US" altLang="zh-TW" dirty="0"/>
              <a:t>)</a:t>
            </a:r>
          </a:p>
          <a:p>
            <a:r>
              <a:rPr lang="zh-TW" altLang="en-US" dirty="0"/>
              <a:t> </a:t>
            </a:r>
            <a:r>
              <a:rPr lang="en-US" altLang="zh-TW" dirty="0"/>
              <a:t>API </a:t>
            </a:r>
            <a:r>
              <a:rPr lang="zh-TW" altLang="en-US" dirty="0"/>
              <a:t>接口 </a:t>
            </a:r>
            <a:r>
              <a:rPr lang="en-US" altLang="zh-TW" dirty="0" err="1"/>
              <a:t>activityData</a:t>
            </a:r>
            <a:r>
              <a:rPr lang="en-US" altLang="zh-TW" dirty="0"/>
              <a:t>/{</a:t>
            </a:r>
            <a:r>
              <a:rPr lang="en-US" altLang="zh-TW" dirty="0" err="1"/>
              <a:t>activityDataId</a:t>
            </a:r>
            <a:r>
              <a:rPr lang="en-US" altLang="zh-TW" dirty="0"/>
              <a:t>}/calculate</a:t>
            </a:r>
            <a:r>
              <a:rPr lang="zh-TW" altLang="en-US" dirty="0"/>
              <a:t> 可呼叫並觸發計算活動數據的排放量 </a:t>
            </a:r>
            <a:r>
              <a:rPr lang="en-US" altLang="zh-TW" dirty="0"/>
              <a:t>(</a:t>
            </a:r>
            <a:r>
              <a:rPr lang="zh-TW" altLang="en-US" dirty="0"/>
              <a:t>未出現在 </a:t>
            </a:r>
            <a:r>
              <a:rPr lang="en-US" altLang="zh-TW" dirty="0"/>
              <a:t>Swagger</a:t>
            </a:r>
            <a:r>
              <a:rPr lang="zh-TW" altLang="en-US" dirty="0"/>
              <a:t> 上</a:t>
            </a:r>
            <a:r>
              <a:rPr lang="en-US" altLang="zh-TW" dirty="0"/>
              <a:t>)</a:t>
            </a:r>
            <a:endParaRPr lang="zh-TW" altLang="en-US" dirty="0"/>
          </a:p>
        </p:txBody>
      </p:sp>
    </p:spTree>
    <p:extLst>
      <p:ext uri="{BB962C8B-B14F-4D97-AF65-F5344CB8AC3E}">
        <p14:creationId xmlns:p14="http://schemas.microsoft.com/office/powerpoint/2010/main" val="4157623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簽核進度預計算</a:t>
            </a:r>
          </a:p>
        </p:txBody>
      </p:sp>
    </p:spTree>
    <p:extLst>
      <p:ext uri="{BB962C8B-B14F-4D97-AF65-F5344CB8AC3E}">
        <p14:creationId xmlns:p14="http://schemas.microsoft.com/office/powerpoint/2010/main" val="3649458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4E44-1697-A4F8-83D3-5C100556DE00}"/>
              </a:ext>
            </a:extLst>
          </p:cNvPr>
          <p:cNvSpPr>
            <a:spLocks noGrp="1"/>
          </p:cNvSpPr>
          <p:nvPr>
            <p:ph type="title"/>
          </p:nvPr>
        </p:nvSpPr>
        <p:spPr/>
        <p:txBody>
          <a:bodyPr/>
          <a:lstStyle/>
          <a:p>
            <a:r>
              <a:rPr lang="zh-TW" altLang="en-US" dirty="0"/>
              <a:t>據點年度及專案簽核進度預計算</a:t>
            </a:r>
          </a:p>
        </p:txBody>
      </p:sp>
      <p:sp>
        <p:nvSpPr>
          <p:cNvPr id="3" name="Content Placeholder 2">
            <a:extLst>
              <a:ext uri="{FF2B5EF4-FFF2-40B4-BE49-F238E27FC236}">
                <a16:creationId xmlns:a16="http://schemas.microsoft.com/office/drawing/2014/main" id="{534D8603-6970-F187-6872-CE9CA6888CEB}"/>
              </a:ext>
            </a:extLst>
          </p:cNvPr>
          <p:cNvSpPr>
            <a:spLocks noGrp="1"/>
          </p:cNvSpPr>
          <p:nvPr>
            <p:ph idx="1"/>
          </p:nvPr>
        </p:nvSpPr>
        <p:spPr/>
        <p:txBody>
          <a:bodyPr>
            <a:normAutofit/>
          </a:bodyPr>
          <a:lstStyle/>
          <a:p>
            <a:r>
              <a:rPr lang="zh-TW" altLang="en-US" dirty="0"/>
              <a:t>活動數據簽核完成後，會計算此活動數據所屬的據點年度的總簽核進度並存放在 </a:t>
            </a:r>
            <a:r>
              <a:rPr lang="en-US" altLang="zh-TW" dirty="0"/>
              <a:t>table </a:t>
            </a:r>
            <a:r>
              <a:rPr lang="zh-TW" altLang="en-US" dirty="0"/>
              <a:t> </a:t>
            </a:r>
            <a:r>
              <a:rPr lang="en-US" altLang="zh-TW" dirty="0" err="1"/>
              <a:t>ocf.site_annual</a:t>
            </a:r>
            <a:r>
              <a:rPr lang="en-US" altLang="zh-TW" dirty="0"/>
              <a:t> </a:t>
            </a:r>
            <a:r>
              <a:rPr lang="zh-TW" altLang="en-US" dirty="0"/>
              <a:t>的 </a:t>
            </a:r>
            <a:r>
              <a:rPr lang="en-US" altLang="zh-TW" dirty="0" err="1"/>
              <a:t>sign_off_progress</a:t>
            </a:r>
            <a:r>
              <a:rPr lang="en-US" altLang="zh-TW" dirty="0"/>
              <a:t> </a:t>
            </a:r>
            <a:r>
              <a:rPr lang="zh-TW" altLang="en-US" dirty="0"/>
              <a:t>欄位，計算完成後會更新有涵蓋此據點年度的專案之簽核進度並更新至 </a:t>
            </a:r>
            <a:r>
              <a:rPr lang="en-US" altLang="zh-TW" dirty="0"/>
              <a:t>table </a:t>
            </a:r>
            <a:r>
              <a:rPr lang="en-US" altLang="zh-TW" dirty="0" err="1"/>
              <a:t>ocf.project</a:t>
            </a:r>
            <a:r>
              <a:rPr lang="en-US" altLang="zh-TW" dirty="0"/>
              <a:t> </a:t>
            </a:r>
            <a:r>
              <a:rPr lang="zh-TW" altLang="en-US" dirty="0"/>
              <a:t>的 </a:t>
            </a:r>
            <a:r>
              <a:rPr lang="en-US" altLang="zh-TW" dirty="0"/>
              <a:t>progress </a:t>
            </a:r>
            <a:r>
              <a:rPr lang="zh-TW" altLang="en-US" dirty="0"/>
              <a:t>欄位</a:t>
            </a:r>
            <a:endParaRPr lang="en-US" altLang="zh-TW" dirty="0"/>
          </a:p>
          <a:p>
            <a:r>
              <a:rPr lang="zh-TW" altLang="en-US" dirty="0"/>
              <a:t>活動數據簽核、排放源新增</a:t>
            </a:r>
            <a:r>
              <a:rPr lang="en-US" altLang="zh-TW" dirty="0"/>
              <a:t>/</a:t>
            </a:r>
            <a:r>
              <a:rPr lang="zh-TW" altLang="en-US" dirty="0"/>
              <a:t>刪除、專案新增</a:t>
            </a:r>
            <a:r>
              <a:rPr lang="en-US" altLang="zh-TW" dirty="0"/>
              <a:t>/</a:t>
            </a:r>
            <a:r>
              <a:rPr lang="zh-TW" altLang="en-US" dirty="0"/>
              <a:t>編輯時，會丟出 </a:t>
            </a:r>
            <a:r>
              <a:rPr lang="en-US" altLang="zh-TW" dirty="0" err="1"/>
              <a:t>kafka</a:t>
            </a:r>
            <a:r>
              <a:rPr lang="zh-TW" altLang="en-US" dirty="0"/>
              <a:t> 事件觸發更新，</a:t>
            </a:r>
            <a:r>
              <a:rPr lang="en-US" altLang="zh-TW" dirty="0"/>
              <a:t>Topic </a:t>
            </a:r>
            <a:r>
              <a:rPr lang="zh-TW" altLang="en-US" dirty="0"/>
              <a:t>為 </a:t>
            </a:r>
            <a:r>
              <a:rPr lang="en-US" altLang="zh-TW" dirty="0" err="1"/>
              <a:t>ocf</a:t>
            </a:r>
            <a:r>
              <a:rPr lang="en-US" altLang="zh-TW" dirty="0"/>
              <a:t>-calculate-sign-off-progress</a:t>
            </a:r>
            <a:r>
              <a:rPr lang="zh-TW" altLang="en-US" dirty="0"/>
              <a:t> </a:t>
            </a:r>
            <a:r>
              <a:rPr lang="en-US" altLang="zh-TW" dirty="0"/>
              <a:t>(</a:t>
            </a:r>
            <a:r>
              <a:rPr lang="en-US" altLang="zh-TW" dirty="0" err="1"/>
              <a:t>SignOffProgressProducer</a:t>
            </a:r>
            <a:r>
              <a:rPr lang="en-US" altLang="zh-TW" dirty="0"/>
              <a:t>/</a:t>
            </a:r>
            <a:r>
              <a:rPr lang="en-US" altLang="zh-TW" dirty="0" err="1"/>
              <a:t>SignOffProgressConsumer</a:t>
            </a:r>
            <a:r>
              <a:rPr lang="en-US" altLang="zh-TW" dirty="0"/>
              <a:t>)</a:t>
            </a:r>
          </a:p>
          <a:p>
            <a:r>
              <a:rPr lang="zh-TW" altLang="en-US" dirty="0"/>
              <a:t> </a:t>
            </a:r>
            <a:r>
              <a:rPr lang="en-US" altLang="zh-TW" dirty="0"/>
              <a:t>API </a:t>
            </a:r>
            <a:r>
              <a:rPr lang="zh-TW" altLang="en-US" dirty="0"/>
              <a:t>接口 </a:t>
            </a:r>
            <a:r>
              <a:rPr lang="en-US" altLang="zh-TW" dirty="0" err="1"/>
              <a:t>activityData</a:t>
            </a:r>
            <a:r>
              <a:rPr lang="en-US" altLang="zh-TW" dirty="0"/>
              <a:t>/{</a:t>
            </a:r>
            <a:r>
              <a:rPr lang="en-US" altLang="zh-TW" dirty="0" err="1"/>
              <a:t>activityDataId</a:t>
            </a:r>
            <a:r>
              <a:rPr lang="en-US" altLang="zh-TW" dirty="0"/>
              <a:t>}/progress</a:t>
            </a:r>
            <a:r>
              <a:rPr lang="zh-TW" altLang="en-US" dirty="0"/>
              <a:t> 可呼叫並觸發計算活動數據所屬據點年度被涵蓋之全部專案的簽核進度 </a:t>
            </a:r>
            <a:r>
              <a:rPr lang="en-US" altLang="zh-TW" dirty="0"/>
              <a:t>(</a:t>
            </a:r>
            <a:r>
              <a:rPr lang="zh-TW" altLang="en-US" dirty="0"/>
              <a:t>未出現在 </a:t>
            </a:r>
            <a:r>
              <a:rPr lang="en-US" altLang="zh-TW" dirty="0"/>
              <a:t>Swagger</a:t>
            </a:r>
            <a:r>
              <a:rPr lang="zh-TW" altLang="en-US" dirty="0"/>
              <a:t> 上</a:t>
            </a:r>
            <a:r>
              <a:rPr lang="en-US" altLang="zh-TW" dirty="0"/>
              <a:t>)</a:t>
            </a:r>
          </a:p>
          <a:p>
            <a:r>
              <a:rPr lang="en-US" altLang="zh-TW" dirty="0"/>
              <a:t>API </a:t>
            </a:r>
            <a:r>
              <a:rPr lang="zh-TW" altLang="en-US" dirty="0"/>
              <a:t>接口 </a:t>
            </a:r>
            <a:r>
              <a:rPr lang="en-US" altLang="zh-TW" dirty="0"/>
              <a:t>project/{</a:t>
            </a:r>
            <a:r>
              <a:rPr lang="en-US" altLang="zh-TW" dirty="0" err="1"/>
              <a:t>projectId</a:t>
            </a:r>
            <a:r>
              <a:rPr lang="en-US" altLang="zh-TW" dirty="0"/>
              <a:t>}/progress </a:t>
            </a:r>
            <a:r>
              <a:rPr lang="zh-TW" altLang="en-US" dirty="0"/>
              <a:t>可呼叫並觸發計算專案的簽核進度 </a:t>
            </a:r>
            <a:r>
              <a:rPr lang="en-US" altLang="zh-TW" dirty="0"/>
              <a:t>(</a:t>
            </a:r>
            <a:r>
              <a:rPr lang="zh-TW" altLang="en-US" dirty="0"/>
              <a:t>未出現在 </a:t>
            </a:r>
            <a:r>
              <a:rPr lang="en-US" altLang="zh-TW" dirty="0"/>
              <a:t>Swagger</a:t>
            </a:r>
            <a:r>
              <a:rPr lang="zh-TW" altLang="en-US" dirty="0"/>
              <a:t> 上</a:t>
            </a:r>
            <a:r>
              <a:rPr lang="en-US" altLang="zh-TW" dirty="0"/>
              <a:t>)</a:t>
            </a:r>
            <a:endParaRPr lang="zh-TW" altLang="en-US" dirty="0"/>
          </a:p>
        </p:txBody>
      </p:sp>
    </p:spTree>
    <p:extLst>
      <p:ext uri="{BB962C8B-B14F-4D97-AF65-F5344CB8AC3E}">
        <p14:creationId xmlns:p14="http://schemas.microsoft.com/office/powerpoint/2010/main" val="31376807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操作行為記錄</a:t>
            </a:r>
          </a:p>
        </p:txBody>
      </p:sp>
    </p:spTree>
    <p:extLst>
      <p:ext uri="{BB962C8B-B14F-4D97-AF65-F5344CB8AC3E}">
        <p14:creationId xmlns:p14="http://schemas.microsoft.com/office/powerpoint/2010/main" val="218584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44E44-1697-A4F8-83D3-5C100556DE00}"/>
              </a:ext>
            </a:extLst>
          </p:cNvPr>
          <p:cNvSpPr>
            <a:spLocks noGrp="1"/>
          </p:cNvSpPr>
          <p:nvPr>
            <p:ph type="title"/>
          </p:nvPr>
        </p:nvSpPr>
        <p:spPr/>
        <p:txBody>
          <a:bodyPr/>
          <a:lstStyle/>
          <a:p>
            <a:r>
              <a:rPr lang="zh-TW" altLang="en-US" dirty="0"/>
              <a:t>使用者操作行為記錄</a:t>
            </a:r>
          </a:p>
        </p:txBody>
      </p:sp>
      <p:sp>
        <p:nvSpPr>
          <p:cNvPr id="3" name="Content Placeholder 2">
            <a:extLst>
              <a:ext uri="{FF2B5EF4-FFF2-40B4-BE49-F238E27FC236}">
                <a16:creationId xmlns:a16="http://schemas.microsoft.com/office/drawing/2014/main" id="{534D8603-6970-F187-6872-CE9CA6888CEB}"/>
              </a:ext>
            </a:extLst>
          </p:cNvPr>
          <p:cNvSpPr>
            <a:spLocks noGrp="1"/>
          </p:cNvSpPr>
          <p:nvPr>
            <p:ph idx="1"/>
          </p:nvPr>
        </p:nvSpPr>
        <p:spPr/>
        <p:txBody>
          <a:bodyPr>
            <a:normAutofit/>
          </a:bodyPr>
          <a:lstStyle/>
          <a:p>
            <a:r>
              <a:rPr lang="zh-TW" altLang="en-US" dirty="0"/>
              <a:t>規格可參考</a:t>
            </a:r>
            <a:r>
              <a:rPr lang="zh-TW" altLang="en-US" dirty="0">
                <a:hlinkClick r:id="rId2"/>
              </a:rPr>
              <a:t>使用者操作記錄</a:t>
            </a:r>
            <a:r>
              <a:rPr lang="en-US" altLang="zh-TW" dirty="0">
                <a:hlinkClick r:id="rId2"/>
              </a:rPr>
              <a:t>v1-20240311.pptx</a:t>
            </a:r>
            <a:endParaRPr lang="en-US" altLang="zh-TW" dirty="0"/>
          </a:p>
          <a:p>
            <a:r>
              <a:rPr lang="zh-TW" altLang="en-US" dirty="0"/>
              <a:t>記錄方式以在 </a:t>
            </a:r>
            <a:r>
              <a:rPr lang="en-US" altLang="zh-TW" dirty="0"/>
              <a:t>Controller </a:t>
            </a:r>
            <a:r>
              <a:rPr lang="zh-TW" altLang="en-US" dirty="0"/>
              <a:t>需記錄的 </a:t>
            </a:r>
            <a:r>
              <a:rPr lang="en-US" altLang="zh-TW" dirty="0"/>
              <a:t>API</a:t>
            </a:r>
            <a:r>
              <a:rPr lang="zh-TW" altLang="en-US" dirty="0"/>
              <a:t> 加上 </a:t>
            </a:r>
            <a:r>
              <a:rPr lang="en-US" altLang="zh-TW" dirty="0"/>
              <a:t>@ActivityLogger</a:t>
            </a:r>
            <a:r>
              <a:rPr lang="zh-TW" altLang="en-US" dirty="0"/>
              <a:t> 並傳入對應的 </a:t>
            </a:r>
            <a:r>
              <a:rPr lang="en-US" altLang="zh-TW" dirty="0"/>
              <a:t>activity/</a:t>
            </a:r>
            <a:r>
              <a:rPr lang="en-US" altLang="zh-TW" dirty="0" err="1"/>
              <a:t>objectType</a:t>
            </a:r>
            <a:r>
              <a:rPr lang="en-US" altLang="zh-TW" dirty="0"/>
              <a:t>/</a:t>
            </a:r>
            <a:r>
              <a:rPr lang="en-US" altLang="zh-TW" dirty="0" err="1"/>
              <a:t>objectId</a:t>
            </a:r>
            <a:r>
              <a:rPr lang="en-US" altLang="zh-TW" dirty="0"/>
              <a:t> </a:t>
            </a:r>
            <a:r>
              <a:rPr lang="zh-TW" altLang="en-US" dirty="0"/>
              <a:t>等資訊，會透過 </a:t>
            </a:r>
            <a:r>
              <a:rPr lang="en-US" altLang="zh-TW" dirty="0"/>
              <a:t>Aspect </a:t>
            </a:r>
            <a:r>
              <a:rPr lang="zh-TW" altLang="en-US" dirty="0"/>
              <a:t>去記錄對應的資訊至 </a:t>
            </a:r>
            <a:r>
              <a:rPr lang="en-US" altLang="zh-TW" dirty="0"/>
              <a:t>Log</a:t>
            </a:r>
            <a:r>
              <a:rPr lang="zh-TW" altLang="en-US" dirty="0"/>
              <a:t> </a:t>
            </a:r>
            <a:r>
              <a:rPr lang="en-US" altLang="zh-TW" dirty="0"/>
              <a:t>file</a:t>
            </a:r>
          </a:p>
          <a:p>
            <a:r>
              <a:rPr lang="en-US" altLang="zh-TW" dirty="0"/>
              <a:t>Activity</a:t>
            </a:r>
            <a:r>
              <a:rPr lang="zh-TW" altLang="en-US" dirty="0"/>
              <a:t>的</a:t>
            </a:r>
            <a:r>
              <a:rPr lang="en-US" altLang="zh-TW" dirty="0"/>
              <a:t>Enum</a:t>
            </a:r>
            <a:r>
              <a:rPr lang="zh-TW" altLang="en-US" dirty="0"/>
              <a:t>為</a:t>
            </a:r>
            <a:r>
              <a:rPr lang="en-US" altLang="zh-TW" dirty="0" err="1"/>
              <a:t>LogActivity</a:t>
            </a:r>
            <a:r>
              <a:rPr lang="zh-TW" altLang="en-US" dirty="0"/>
              <a:t>；</a:t>
            </a:r>
            <a:r>
              <a:rPr lang="en-US" altLang="zh-TW" dirty="0" err="1"/>
              <a:t>ObjectType</a:t>
            </a:r>
            <a:r>
              <a:rPr lang="zh-TW" altLang="en-US" dirty="0"/>
              <a:t>的</a:t>
            </a:r>
            <a:r>
              <a:rPr lang="en-US" altLang="zh-TW" dirty="0"/>
              <a:t>Enum</a:t>
            </a:r>
            <a:r>
              <a:rPr lang="zh-TW" altLang="en-US" dirty="0"/>
              <a:t>為</a:t>
            </a:r>
            <a:r>
              <a:rPr lang="en-US" altLang="zh-TW" dirty="0" err="1"/>
              <a:t>ObjectType</a:t>
            </a:r>
            <a:r>
              <a:rPr lang="zh-TW" altLang="en-US" dirty="0"/>
              <a:t>；</a:t>
            </a:r>
          </a:p>
        </p:txBody>
      </p:sp>
    </p:spTree>
    <p:extLst>
      <p:ext uri="{BB962C8B-B14F-4D97-AF65-F5344CB8AC3E}">
        <p14:creationId xmlns:p14="http://schemas.microsoft.com/office/powerpoint/2010/main" val="28105515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F8E5F9-3E27-4FB9-9E7F-AA69CBB722EF}"/>
              </a:ext>
            </a:extLst>
          </p:cNvPr>
          <p:cNvSpPr>
            <a:spLocks noGrp="1"/>
          </p:cNvSpPr>
          <p:nvPr>
            <p:ph type="ctrTitle"/>
          </p:nvPr>
        </p:nvSpPr>
        <p:spPr>
          <a:xfrm>
            <a:off x="896647" y="1109141"/>
            <a:ext cx="9144000" cy="1864899"/>
          </a:xfrm>
        </p:spPr>
        <p:txBody>
          <a:bodyPr>
            <a:normAutofit/>
          </a:bodyPr>
          <a:lstStyle/>
          <a:p>
            <a:r>
              <a:rPr lang="en-US" altLang="zh-TW" dirty="0"/>
              <a:t>Smarter. Greener. Together. </a:t>
            </a:r>
            <a:br>
              <a:rPr lang="en-US" altLang="zh-TW" dirty="0"/>
            </a:br>
            <a:endParaRPr lang="en-US" dirty="0"/>
          </a:p>
        </p:txBody>
      </p:sp>
      <p:sp>
        <p:nvSpPr>
          <p:cNvPr id="4" name="文字方塊 3">
            <a:extLst>
              <a:ext uri="{FF2B5EF4-FFF2-40B4-BE49-F238E27FC236}">
                <a16:creationId xmlns:a16="http://schemas.microsoft.com/office/drawing/2014/main" id="{723DE7E3-D357-46D5-9257-0CF6965939A3}"/>
              </a:ext>
            </a:extLst>
          </p:cNvPr>
          <p:cNvSpPr txBox="1"/>
          <p:nvPr/>
        </p:nvSpPr>
        <p:spPr>
          <a:xfrm>
            <a:off x="479425" y="5275848"/>
            <a:ext cx="3738614" cy="830997"/>
          </a:xfrm>
          <a:prstGeom prst="rect">
            <a:avLst/>
          </a:prstGeom>
          <a:solidFill>
            <a:schemeClr val="bg2">
              <a:lumMod val="95000"/>
            </a:schemeClr>
          </a:solidFill>
          <a:ln>
            <a:solidFill>
              <a:schemeClr val="tx2"/>
            </a:solidFill>
          </a:ln>
        </p:spPr>
        <p:txBody>
          <a:bodyPr wrap="square" rtlCol="0">
            <a:spAutoFit/>
          </a:bodyPr>
          <a:lstStyle/>
          <a:p>
            <a:r>
              <a:rPr lang="en-US" sz="1600" dirty="0"/>
              <a:t>Note:</a:t>
            </a:r>
          </a:p>
          <a:p>
            <a:r>
              <a:rPr lang="en-US" sz="1600" dirty="0"/>
              <a:t>Select an ending page from 2 versions </a:t>
            </a:r>
            <a:br>
              <a:rPr lang="en-US" sz="1600" dirty="0"/>
            </a:br>
            <a:r>
              <a:rPr lang="en-US" sz="1600" dirty="0"/>
              <a:t>(white or image background)</a:t>
            </a:r>
          </a:p>
        </p:txBody>
      </p:sp>
      <p:sp>
        <p:nvSpPr>
          <p:cNvPr id="5" name="文字版面配置區 2"/>
          <p:cNvSpPr>
            <a:spLocks noGrp="1"/>
          </p:cNvSpPr>
          <p:nvPr>
            <p:ph type="body" sz="quarter" idx="12"/>
          </p:nvPr>
        </p:nvSpPr>
        <p:spPr>
          <a:xfrm>
            <a:off x="385370" y="60183"/>
            <a:ext cx="2133446" cy="380427"/>
          </a:xfrm>
        </p:spPr>
        <p:txBody>
          <a:bodyPr/>
          <a:lstStyle/>
          <a:p>
            <a:endParaRPr lang="zh-TW" altLang="en-US"/>
          </a:p>
        </p:txBody>
      </p:sp>
    </p:spTree>
    <p:extLst>
      <p:ext uri="{BB962C8B-B14F-4D97-AF65-F5344CB8AC3E}">
        <p14:creationId xmlns:p14="http://schemas.microsoft.com/office/powerpoint/2010/main" val="2535469637"/>
      </p:ext>
    </p:extLst>
  </p:cSld>
  <p:clrMapOvr>
    <a:masterClrMapping/>
  </p:clrMapOvr>
</p:sld>
</file>

<file path=ppt/theme/theme1.xml><?xml version="1.0" encoding="utf-8"?>
<a:theme xmlns:a="http://schemas.openxmlformats.org/drawingml/2006/main" name="Delta_PPTtemplate_16x9">
  <a:themeElements>
    <a:clrScheme name="自訂 2">
      <a:dk1>
        <a:sysClr val="windowText" lastClr="000000"/>
      </a:dk1>
      <a:lt1>
        <a:sysClr val="window" lastClr="FFFFFF"/>
      </a:lt1>
      <a:dk2>
        <a:srgbClr val="0087DC"/>
      </a:dk2>
      <a:lt2>
        <a:srgbClr val="FFFFFF"/>
      </a:lt2>
      <a:accent1>
        <a:srgbClr val="0087DC"/>
      </a:accent1>
      <a:accent2>
        <a:srgbClr val="64D7D7"/>
      </a:accent2>
      <a:accent3>
        <a:srgbClr val="B9EB5F"/>
      </a:accent3>
      <a:accent4>
        <a:srgbClr val="1E50C8"/>
      </a:accent4>
      <a:accent5>
        <a:srgbClr val="96E6BE"/>
      </a:accent5>
      <a:accent6>
        <a:srgbClr val="00BE50"/>
      </a:accent6>
      <a:hlink>
        <a:srgbClr val="0563C1"/>
      </a:hlink>
      <a:folHlink>
        <a:srgbClr val="BFBFBF"/>
      </a:folHlink>
    </a:clrScheme>
    <a:fontScheme name="自訂 3">
      <a:majorFont>
        <a:latin typeface="Arial"/>
        <a:ea typeface="Microsoft JhengHei"/>
        <a:cs typeface=""/>
      </a:majorFont>
      <a:minorFont>
        <a:latin typeface="Arial"/>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lta_PPTtemplate_16x9_EN" id="{AB7E8207-7EFD-42D6-915B-94A9E5ABAC21}" vid="{115B2ECF-35DF-4A82-A0C0-9889D580E896}"/>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LargeFileSiz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EF46B986D75BD42B845D2ED6EDEA839" ma:contentTypeVersion="4" ma:contentTypeDescription="Create a new document." ma:contentTypeScope="" ma:versionID="2d405064337e7c4f6515a99afef7cd3d">
  <xsd:schema xmlns:xsd="http://www.w3.org/2001/XMLSchema" xmlns:xs="http://www.w3.org/2001/XMLSchema" xmlns:p="http://schemas.microsoft.com/office/2006/metadata/properties" xmlns:ns1="http://schemas.microsoft.com/sharepoint/v3" xmlns:ns2="9e14bc9f-d43a-4562-9a47-6bccc43a8b23" xmlns:ns3="http://schemas.microsoft.com/sharepoint/v4" targetNamespace="http://schemas.microsoft.com/office/2006/metadata/properties" ma:root="true" ma:fieldsID="1e6bbda17f82fa64eacd710a25679081" ns1:_="" ns2:_="" ns3:_="">
    <xsd:import namespace="http://schemas.microsoft.com/sharepoint/v3"/>
    <xsd:import namespace="9e14bc9f-d43a-4562-9a47-6bccc43a8b23"/>
    <xsd:import namespace="http://schemas.microsoft.com/sharepoint/v4"/>
    <xsd:element name="properties">
      <xsd:complexType>
        <xsd:sequence>
          <xsd:element name="documentManagement">
            <xsd:complexType>
              <xsd:all>
                <xsd:element ref="ns1:LargeFileSize" minOccurs="0"/>
                <xsd:element ref="ns2:D38D7918E8D62_DiskName" minOccurs="0"/>
                <xsd:element ref="ns1:FileShareFlag" minOccurs="0"/>
                <xsd:element ref="ns3: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LargeFileSize" ma:index="8" nillable="true" ma:displayName="Linked File Size" ma:hidden="true" ma:internalName="LargeFileSize">
      <xsd:simpleType>
        <xsd:restriction base="dms:Note">
          <xsd:maxLength value="255"/>
        </xsd:restriction>
      </xsd:simpleType>
    </xsd:element>
    <xsd:element name="FileShareFlag" ma:index="10" nillable="true" ma:displayName="File Share Flag" ma:default="0.0" ma:hidden="true" ma:internalName="_x0024_Resources_x003a_FSDLResources_x002c_VDL_FileShareFlag_x003b_"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9e14bc9f-d43a-4562-9a47-6bccc43a8b23" elementFormDefault="qualified">
    <xsd:import namespace="http://schemas.microsoft.com/office/2006/documentManagement/types"/>
    <xsd:import namespace="http://schemas.microsoft.com/office/infopath/2007/PartnerControls"/>
    <xsd:element name="D38D7918E8D62_DiskName" ma:index="9" nillable="true" ma:displayName="DiskName" ma:description="" ma:hidden="true" ma:internalName="DiskName"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1"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4C4FD4-6F29-4AEE-A8A4-691B2C273B52}">
  <ds:schemaRefs>
    <ds:schemaRef ds:uri="http://schemas.microsoft.com/office/infopath/2007/PartnerControls"/>
    <ds:schemaRef ds:uri="http://purl.org/dc/elements/1.1/"/>
    <ds:schemaRef ds:uri="9e14bc9f-d43a-4562-9a47-6bccc43a8b23"/>
    <ds:schemaRef ds:uri="http://schemas.microsoft.com/office/2006/documentManagement/types"/>
    <ds:schemaRef ds:uri="http://schemas.microsoft.com/sharepoint/v3"/>
    <ds:schemaRef ds:uri="http://purl.org/dc/dcmitype/"/>
    <ds:schemaRef ds:uri="http://schemas.microsoft.com/office/2006/metadata/properties"/>
    <ds:schemaRef ds:uri="http://schemas.openxmlformats.org/package/2006/metadata/core-properties"/>
    <ds:schemaRef ds:uri="http://schemas.microsoft.com/sharepoint/v4"/>
    <ds:schemaRef ds:uri="http://www.w3.org/XML/1998/namespace"/>
    <ds:schemaRef ds:uri="http://purl.org/dc/terms/"/>
  </ds:schemaRefs>
</ds:datastoreItem>
</file>

<file path=customXml/itemProps2.xml><?xml version="1.0" encoding="utf-8"?>
<ds:datastoreItem xmlns:ds="http://schemas.openxmlformats.org/officeDocument/2006/customXml" ds:itemID="{713B2C7D-AC71-4515-AD7E-02F2B2F70B91}">
  <ds:schemaRefs>
    <ds:schemaRef ds:uri="http://schemas.microsoft.com/sharepoint/v3/contenttype/forms"/>
  </ds:schemaRefs>
</ds:datastoreItem>
</file>

<file path=customXml/itemProps3.xml><?xml version="1.0" encoding="utf-8"?>
<ds:datastoreItem xmlns:ds="http://schemas.openxmlformats.org/officeDocument/2006/customXml" ds:itemID="{75C1DF23-068F-45F9-B872-0DF374878A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14bc9f-d43a-4562-9a47-6bccc43a8b23"/>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Delta_PPTtemplate_16x9_EN</Template>
  <TotalTime>8803</TotalTime>
  <Words>1670</Words>
  <Application>Microsoft Office PowerPoint</Application>
  <PresentationFormat>Widescreen</PresentationFormat>
  <Paragraphs>237</Paragraphs>
  <Slides>43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Microsoft JhengHei</vt:lpstr>
      <vt:lpstr>新細明體</vt:lpstr>
      <vt:lpstr>Arial</vt:lpstr>
      <vt:lpstr>Calibri</vt:lpstr>
      <vt:lpstr>Delta_PPTtemplate_16x9</vt:lpstr>
      <vt:lpstr>OCF 後端交接</vt:lpstr>
      <vt:lpstr>Agenda</vt:lpstr>
      <vt:lpstr>ER Diagram</vt:lpstr>
      <vt:lpstr>ER Diagram (1/4)</vt:lpstr>
      <vt:lpstr>ER Diagram (2/4)</vt:lpstr>
      <vt:lpstr>ER Diagram (3/4)</vt:lpstr>
      <vt:lpstr>ER Diagram (4/4)</vt:lpstr>
      <vt:lpstr>帳號管理</vt:lpstr>
      <vt:lpstr>帳號管理</vt:lpstr>
      <vt:lpstr>角色管理</vt:lpstr>
      <vt:lpstr>系統角色</vt:lpstr>
      <vt:lpstr>據點角色</vt:lpstr>
      <vt:lpstr>據點管理</vt:lpstr>
      <vt:lpstr>據點清單</vt:lpstr>
      <vt:lpstr>碳追蹤</vt:lpstr>
      <vt:lpstr>據點設定 – 基本資訊</vt:lpstr>
      <vt:lpstr>據點設定 – 顯著性評估</vt:lpstr>
      <vt:lpstr>據點設定 – 排放源</vt:lpstr>
      <vt:lpstr>據點設定 – 設備</vt:lpstr>
      <vt:lpstr>據點設定 – 活動</vt:lpstr>
      <vt:lpstr>據點設定 – 原燃物料或產品係數</vt:lpstr>
      <vt:lpstr>據點設定 – 總覽 (Total Carbon)</vt:lpstr>
      <vt:lpstr>公司管理</vt:lpstr>
      <vt:lpstr>公司清單</vt:lpstr>
      <vt:lpstr>專案管理</vt:lpstr>
      <vt:lpstr>專案清單</vt:lpstr>
      <vt:lpstr>稽核管理</vt:lpstr>
      <vt:lpstr>任務清單</vt:lpstr>
      <vt:lpstr>任務稽核</vt:lpstr>
      <vt:lpstr>缺失單</vt:lpstr>
      <vt:lpstr>係數資料庫</vt:lpstr>
      <vt:lpstr>GHG 係數列表</vt:lpstr>
      <vt:lpstr>權限管理</vt:lpstr>
      <vt:lpstr>權限管理</vt:lpstr>
      <vt:lpstr>權限管理 – 物件</vt:lpstr>
      <vt:lpstr>權限管理 – 行為</vt:lpstr>
      <vt:lpstr>排放量預計算</vt:lpstr>
      <vt:lpstr>活動數據排放量預計算</vt:lpstr>
      <vt:lpstr>簽核進度預計算</vt:lpstr>
      <vt:lpstr>據點年度及專案簽核進度預計算</vt:lpstr>
      <vt:lpstr>操作行為記錄</vt:lpstr>
      <vt:lpstr>使用者操作行為記錄</vt:lpstr>
      <vt:lpstr>Smarter. Greener. Together.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 Maximum 2 Lines (32pt)</dc:title>
  <dc:creator>user</dc:creator>
  <cp:lastModifiedBy>RICKY.LEE 李維珣</cp:lastModifiedBy>
  <cp:revision>237</cp:revision>
  <dcterms:created xsi:type="dcterms:W3CDTF">2022-01-20T01:43:08Z</dcterms:created>
  <dcterms:modified xsi:type="dcterms:W3CDTF">2024-04-19T03:43:37Z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0x0101003EF46B986D75BD42B845D2ED6EDEA839</vt:lpwstr>
  </property>
</Properties>
</file>